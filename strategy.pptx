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8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4"/>
  </p:notesMasterIdLst>
  <p:sldIdLst>
    <p:sldId id="256" r:id="rId2"/>
    <p:sldId id="312" r:id="rId3"/>
    <p:sldId id="313" r:id="rId4"/>
    <p:sldId id="301" r:id="rId5"/>
    <p:sldId id="277" r:id="rId6"/>
    <p:sldId id="303" r:id="rId7"/>
    <p:sldId id="305" r:id="rId8"/>
    <p:sldId id="267" r:id="rId9"/>
    <p:sldId id="314" r:id="rId10"/>
    <p:sldId id="276" r:id="rId11"/>
    <p:sldId id="275" r:id="rId12"/>
    <p:sldId id="273" r:id="rId13"/>
    <p:sldId id="260" r:id="rId14"/>
    <p:sldId id="270" r:id="rId15"/>
    <p:sldId id="308" r:id="rId16"/>
    <p:sldId id="309" r:id="rId17"/>
    <p:sldId id="299" r:id="rId18"/>
    <p:sldId id="274" r:id="rId19"/>
    <p:sldId id="311" r:id="rId20"/>
    <p:sldId id="310" r:id="rId21"/>
    <p:sldId id="315" r:id="rId22"/>
    <p:sldId id="316" r:id="rId23"/>
  </p:sldIdLst>
  <p:sldSz cx="9144000" cy="5143500" type="screen16x9"/>
  <p:notesSz cx="6858000" cy="9144000"/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e13d9a7e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e13d9a7e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13d9a7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13d9a7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3e13d9a7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3e13d9a7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558E8DEB-0E33-0EE9-FCA2-0E539424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e13d9a7e_0_7910:notes">
            <a:extLst>
              <a:ext uri="{FF2B5EF4-FFF2-40B4-BE49-F238E27FC236}">
                <a16:creationId xmlns:a16="http://schemas.microsoft.com/office/drawing/2014/main" id="{2F3F96BA-2EE9-2282-3D8C-D37C05757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e13d9a7e_0_7910:notes">
            <a:extLst>
              <a:ext uri="{FF2B5EF4-FFF2-40B4-BE49-F238E27FC236}">
                <a16:creationId xmlns:a16="http://schemas.microsoft.com/office/drawing/2014/main" id="{3FFCB56C-7105-E4E7-1766-906FD4E57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128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e13d9a7e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3e13d9a7e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5158d5a3ec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5158d5a3ec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5158d5a3e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5158d5a3e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158d5a3ec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158d5a3ec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e13d9a7e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e13d9a7e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3e13d9a7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3e13d9a7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5158d5a3e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5158d5a3e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5158d5a3e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5158d5a3e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13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CUSTOM_27_1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2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ctrTitle" idx="4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5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 idx="6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7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8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CUSTOM_27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ctrTitle"/>
          </p:nvPr>
        </p:nvSpPr>
        <p:spPr>
          <a:xfrm>
            <a:off x="4921575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ubTitle" idx="1"/>
          </p:nvPr>
        </p:nvSpPr>
        <p:spPr>
          <a:xfrm>
            <a:off x="4921575" y="3553810"/>
            <a:ext cx="15222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ctrTitle" idx="2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ubTitle" idx="3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ctrTitle" idx="4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ctrTitle" idx="5"/>
          </p:nvPr>
        </p:nvSpPr>
        <p:spPr>
          <a:xfrm>
            <a:off x="2928557" y="2993035"/>
            <a:ext cx="1798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6"/>
          </p:nvPr>
        </p:nvSpPr>
        <p:spPr>
          <a:xfrm>
            <a:off x="2928550" y="3553810"/>
            <a:ext cx="1476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1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8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ubTitle" idx="2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16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4">
  <p:cSld name="CUSTOM_16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35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CUSTOM_38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title" idx="2" hasCustomPrompt="1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30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 idx="2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3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ctrTitle" idx="4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5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ctrTitle" idx="6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ctrTitle" idx="7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8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ctrTitle" idx="9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3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ctrTitle" idx="14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5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3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2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2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ctrTitle" idx="3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>
  <p:cSld name="CUSTOM_3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ubTitle" idx="1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4">
  <p:cSld name="CUSTOM_33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 flipH="1">
            <a:off x="840600" y="2432150"/>
            <a:ext cx="16503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4702174" y="1049093"/>
            <a:ext cx="1960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ctrTitle"/>
          </p:nvPr>
        </p:nvSpPr>
        <p:spPr>
          <a:xfrm>
            <a:off x="-533400" y="2047350"/>
            <a:ext cx="3024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ctrTitle" idx="3"/>
          </p:nvPr>
        </p:nvSpPr>
        <p:spPr>
          <a:xfrm>
            <a:off x="4702174" y="664293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4"/>
          </p:nvPr>
        </p:nvSpPr>
        <p:spPr>
          <a:xfrm>
            <a:off x="4702174" y="3788925"/>
            <a:ext cx="2214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ctrTitle" idx="5"/>
          </p:nvPr>
        </p:nvSpPr>
        <p:spPr>
          <a:xfrm>
            <a:off x="4702174" y="3389725"/>
            <a:ext cx="24756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ctrTitle" idx="6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CUSTOM_34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"/>
          </p:nvPr>
        </p:nvSpPr>
        <p:spPr>
          <a:xfrm>
            <a:off x="1579064" y="2147200"/>
            <a:ext cx="16266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ctrTitle" idx="2"/>
          </p:nvPr>
        </p:nvSpPr>
        <p:spPr>
          <a:xfrm>
            <a:off x="1579064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3"/>
          </p:nvPr>
        </p:nvSpPr>
        <p:spPr>
          <a:xfrm>
            <a:off x="4068269" y="2147200"/>
            <a:ext cx="16266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ctrTitle" idx="4"/>
          </p:nvPr>
        </p:nvSpPr>
        <p:spPr>
          <a:xfrm>
            <a:off x="3075567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6">
  <p:cSld name="CUSTOM_11_1_2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dits">
  <p:cSld name="CUSTOM_25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CUSTOM_25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642050" y="127755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642050" y="540000"/>
            <a:ext cx="46554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548879" y="6277210"/>
            <a:ext cx="2421525" cy="284126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691480" y="6277210"/>
            <a:ext cx="3551570" cy="28412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961973" y="6277210"/>
            <a:ext cx="2421525" cy="284126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10.xml"/><Relationship Id="rId10" Type="http://schemas.openxmlformats.org/officeDocument/2006/relationships/slideLayout" Target="../slideLayouts/slideLayout1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3" Type="http://schemas.openxmlformats.org/officeDocument/2006/relationships/tags" Target="../tags/tag17.xml"/><Relationship Id="rId21" Type="http://schemas.openxmlformats.org/officeDocument/2006/relationships/slideLayout" Target="../slideLayouts/slideLayout11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tags" Target="../tags/tag34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slideLayout" Target="../slideLayouts/slideLayout11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26" Type="http://schemas.openxmlformats.org/officeDocument/2006/relationships/image" Target="../media/image4.svg"/><Relationship Id="rId3" Type="http://schemas.openxmlformats.org/officeDocument/2006/relationships/tags" Target="../tags/tag55.xml"/><Relationship Id="rId21" Type="http://schemas.openxmlformats.org/officeDocument/2006/relationships/slideLayout" Target="../slideLayouts/slideLayout11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5" Type="http://schemas.openxmlformats.org/officeDocument/2006/relationships/image" Target="../media/image3.svg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29" Type="http://schemas.openxmlformats.org/officeDocument/2006/relationships/image" Target="../media/image7.sv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image" Target="../media/image2.svg"/><Relationship Id="rId32" Type="http://schemas.openxmlformats.org/officeDocument/2006/relationships/image" Target="../media/image10.svg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image" Target="../media/image1.svg"/><Relationship Id="rId28" Type="http://schemas.openxmlformats.org/officeDocument/2006/relationships/image" Target="../media/image6.svg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31" Type="http://schemas.openxmlformats.org/officeDocument/2006/relationships/image" Target="../media/image9.sv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notesSlide" Target="../notesSlides/notesSlide8.xml"/><Relationship Id="rId27" Type="http://schemas.openxmlformats.org/officeDocument/2006/relationships/image" Target="../media/image5.svg"/><Relationship Id="rId30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1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94995" y="847725"/>
            <a:ext cx="7734935" cy="3360420"/>
            <a:chOff x="937" y="1335"/>
            <a:chExt cx="12181" cy="5292"/>
          </a:xfrm>
        </p:grpSpPr>
        <p:sp>
          <p:nvSpPr>
            <p:cNvPr id="128" name="Google Shape;128;p26"/>
            <p:cNvSpPr/>
            <p:nvPr/>
          </p:nvSpPr>
          <p:spPr>
            <a:xfrm rot="5400000">
              <a:off x="1105" y="1167"/>
              <a:ext cx="5289" cy="5625"/>
            </a:xfrm>
            <a:prstGeom prst="rect">
              <a:avLst/>
            </a:prstGeom>
            <a:solidFill>
              <a:schemeClr val="accent1">
                <a:alpha val="861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8;p26"/>
            <p:cNvSpPr/>
            <p:nvPr/>
          </p:nvSpPr>
          <p:spPr>
            <a:xfrm rot="5400000">
              <a:off x="7177" y="686"/>
              <a:ext cx="5289" cy="659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8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26"/>
          <p:cNvSpPr txBox="1">
            <a:spLocks noGrp="1"/>
          </p:cNvSpPr>
          <p:nvPr>
            <p:ph type="ctrTitle"/>
          </p:nvPr>
        </p:nvSpPr>
        <p:spPr>
          <a:xfrm>
            <a:off x="878205" y="1052830"/>
            <a:ext cx="4100195" cy="30041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Strategy </a:t>
            </a:r>
            <a:b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</a:br>
            <a: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en-US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attern </a:t>
            </a:r>
            <a:endParaRPr dirty="0">
              <a:solidFill>
                <a:schemeClr val="lt1"/>
              </a:solidFill>
              <a:latin typeface="Times New Roman" panose="02020603050405020304" charset="0"/>
              <a:ea typeface="Livvic"/>
              <a:cs typeface="Times New Roman" panose="02020603050405020304" charset="0"/>
              <a:sym typeface="Livvic"/>
            </a:endParaRPr>
          </a:p>
        </p:txBody>
      </p:sp>
      <p:sp>
        <p:nvSpPr>
          <p:cNvPr id="131" name="Google Shape;131;p26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0;p26"/>
          <p:cNvSpPr txBox="1"/>
          <p:nvPr/>
        </p:nvSpPr>
        <p:spPr>
          <a:xfrm>
            <a:off x="4316095" y="1052830"/>
            <a:ext cx="3843020" cy="3004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400" dirty="0">
              <a:solidFill>
                <a:schemeClr val="accent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143375" y="1750060"/>
          <a:ext cx="4187190" cy="189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8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Course 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Software Engineering &amp; Information System Lab</a:t>
                      </a:r>
                      <a:endParaRPr lang="en-US" altLang="en-US" sz="1400" b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Course Code: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CSE-3104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Assigned By: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Md. Samsuddoha</a:t>
                      </a:r>
                      <a:endParaRPr lang="en-US" altLang="en-US" sz="1400" b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Assistant Professor </a:t>
                      </a:r>
                      <a:endParaRPr lang="en-US" altLang="en-US" sz="1400" b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University of Barishal</a:t>
                      </a:r>
                      <a:endParaRPr lang="en-US" altLang="en-US" sz="1400" b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7"/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/>
          <p:cNvGraphicFramePr/>
          <p:nvPr/>
        </p:nvGraphicFramePr>
        <p:xfrm>
          <a:off x="450215" y="542290"/>
          <a:ext cx="8243570" cy="37160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2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9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690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Submitted by : Team Innovex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Team Members</a:t>
                      </a:r>
                    </a:p>
                  </a:txBody>
                  <a:tcPr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Role</a:t>
                      </a:r>
                    </a:p>
                  </a:txBody>
                  <a:tcPr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Cover Content</a:t>
                      </a:r>
                    </a:p>
                  </a:txBody>
                  <a:tcPr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Afsana</a:t>
                      </a:r>
                    </a:p>
                    <a:p>
                      <a:pPr algn="ctr">
                        <a:buNone/>
                      </a:pPr>
                      <a:r>
                        <a:rPr lang="en-US"/>
                        <a:t>(ID-053)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/>
                        <a:t>Team Leader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/>
                        <a:t>Introduce the pattern &amp; Intent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Sabiha Akter</a:t>
                      </a:r>
                    </a:p>
                    <a:p>
                      <a:pPr algn="ctr">
                        <a:buNone/>
                      </a:pPr>
                      <a:r>
                        <a:rPr lang="en-US" sz="1400"/>
                        <a:t>(ID-051)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/>
                        <a:t>Database</a:t>
                      </a:r>
                    </a:p>
                    <a:p>
                      <a:pPr algn="ctr">
                        <a:buNone/>
                      </a:pPr>
                      <a:r>
                        <a:rPr lang="en-US" altLang="en-US" sz="1400"/>
                        <a:t>Administrator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/>
                        <a:t>Problems &amp;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ym typeface="+mn-ea"/>
                        </a:rPr>
                        <a:t>Tasnim Ahmed Arnob</a:t>
                      </a:r>
                    </a:p>
                    <a:p>
                      <a:pPr algn="ctr">
                        <a:buNone/>
                      </a:pPr>
                      <a:r>
                        <a:rPr lang="en-US" sz="1400">
                          <a:sym typeface="+mn-ea"/>
                        </a:rPr>
                        <a:t>(ID-042)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Backend Engineer</a:t>
                      </a:r>
                      <a:endParaRPr lang="en-US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6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Structure</a:t>
                      </a:r>
                      <a:endParaRPr lang="en-US" altLang="en-US" sz="1600" b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Examples/ Real Analogy</a:t>
                      </a:r>
                      <a:endParaRPr lang="en-US" altLang="en-US" sz="1400"/>
                    </a:p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Application</a:t>
                      </a:r>
                      <a:endParaRPr lang="en-US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ym typeface="+mn-ea"/>
                        </a:rPr>
                        <a:t>Shouvik Biswas</a:t>
                      </a:r>
                    </a:p>
                    <a:p>
                      <a:pPr algn="ctr">
                        <a:buNone/>
                      </a:pPr>
                      <a:r>
                        <a:rPr lang="en-US" sz="1400">
                          <a:sym typeface="+mn-ea"/>
                        </a:rPr>
                        <a:t>(ID-24)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SQA Engineer &amp; Business Analyst</a:t>
                      </a:r>
                      <a:endParaRPr lang="en-US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Advantage &amp; Disadvantage</a:t>
                      </a:r>
                      <a:endParaRPr lang="en-US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Mahbubur Rahman Antor</a:t>
                      </a:r>
                    </a:p>
                    <a:p>
                      <a:pPr algn="ctr">
                        <a:buNone/>
                      </a:pPr>
                      <a:r>
                        <a:rPr lang="en-US"/>
                        <a:t>(ID-34)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/>
                        <a:t>UI/UX Designer and Fronted Developer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/>
                        <a:t>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/>
          <p:nvPr/>
        </p:nvSpPr>
        <p:spPr>
          <a:xfrm rot="-5400000" flipH="1">
            <a:off x="-960120" y="960755"/>
            <a:ext cx="5146040" cy="32251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Title 15"/>
          <p:cNvSpPr>
            <a:spLocks noGrp="1"/>
          </p:cNvSpPr>
          <p:nvPr>
            <p:ph type="ctrTitle" idx="16"/>
          </p:nvPr>
        </p:nvSpPr>
        <p:spPr>
          <a:xfrm>
            <a:off x="2747010" y="195580"/>
            <a:ext cx="5852795" cy="577850"/>
          </a:xfrm>
          <a:noFill/>
        </p:spPr>
        <p:txBody>
          <a:bodyPr anchor="ctr" anchorCtr="0"/>
          <a:lstStyle/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01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Introduce the pattern &amp; Intent</a:t>
            </a:r>
          </a:p>
        </p:txBody>
      </p:sp>
      <p:sp>
        <p:nvSpPr>
          <p:cNvPr id="19" name="Title 15"/>
          <p:cNvSpPr/>
          <p:nvPr/>
        </p:nvSpPr>
        <p:spPr>
          <a:xfrm>
            <a:off x="2747010" y="807720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02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Problems</a:t>
            </a:r>
          </a:p>
        </p:txBody>
      </p:sp>
      <p:sp>
        <p:nvSpPr>
          <p:cNvPr id="20" name="Title 15"/>
          <p:cNvSpPr/>
          <p:nvPr/>
        </p:nvSpPr>
        <p:spPr>
          <a:xfrm>
            <a:off x="2747010" y="1419225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03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Solution</a:t>
            </a:r>
          </a:p>
        </p:txBody>
      </p:sp>
      <p:sp>
        <p:nvSpPr>
          <p:cNvPr id="21" name="Title 15"/>
          <p:cNvSpPr/>
          <p:nvPr/>
        </p:nvSpPr>
        <p:spPr>
          <a:xfrm>
            <a:off x="2747010" y="2030730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04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Structure</a:t>
            </a:r>
          </a:p>
        </p:txBody>
      </p:sp>
      <p:sp>
        <p:nvSpPr>
          <p:cNvPr id="22" name="Title 15"/>
          <p:cNvSpPr/>
          <p:nvPr/>
        </p:nvSpPr>
        <p:spPr>
          <a:xfrm>
            <a:off x="2747010" y="2642235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05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Examples &amp; Real Analogy</a:t>
            </a:r>
            <a:endParaRPr lang="en-US" altLang="en-US" sz="16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itle 15"/>
          <p:cNvSpPr/>
          <p:nvPr/>
        </p:nvSpPr>
        <p:spPr>
          <a:xfrm>
            <a:off x="2747010" y="3253740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06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Advantage &amp; Disadvantage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US" sz="16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itle 15"/>
          <p:cNvSpPr/>
          <p:nvPr/>
        </p:nvSpPr>
        <p:spPr>
          <a:xfrm>
            <a:off x="2747010" y="3865245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07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Application</a:t>
            </a:r>
          </a:p>
        </p:txBody>
      </p:sp>
      <p:sp>
        <p:nvSpPr>
          <p:cNvPr id="25" name="Title 15"/>
          <p:cNvSpPr/>
          <p:nvPr/>
        </p:nvSpPr>
        <p:spPr>
          <a:xfrm>
            <a:off x="2747010" y="4476750"/>
            <a:ext cx="5852795" cy="5772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08</a:t>
            </a:r>
            <a:r>
              <a:rPr lang="en-US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6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Coding</a:t>
            </a:r>
          </a:p>
        </p:txBody>
      </p:sp>
      <p:sp>
        <p:nvSpPr>
          <p:cNvPr id="145" name="Google Shape;145;p28"/>
          <p:cNvSpPr txBox="1">
            <a:spLocks noGrp="1"/>
          </p:cNvSpPr>
          <p:nvPr>
            <p:ph type="ctrTitle" idx="9"/>
          </p:nvPr>
        </p:nvSpPr>
        <p:spPr>
          <a:xfrm rot="16200000">
            <a:off x="-986790" y="2035810"/>
            <a:ext cx="5144770" cy="107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TABLE OF CONTENTS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/>
          <p:nvPr/>
        </p:nvSpPr>
        <p:spPr>
          <a:xfrm rot="5400000">
            <a:off x="4182745" y="-4178300"/>
            <a:ext cx="793115" cy="91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title" idx="2"/>
          </p:nvPr>
        </p:nvSpPr>
        <p:spPr>
          <a:xfrm>
            <a:off x="1383030" y="113983"/>
            <a:ext cx="6392545" cy="572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What is Design Pattern?</a:t>
            </a:r>
          </a:p>
        </p:txBody>
      </p:sp>
      <p:sp>
        <p:nvSpPr>
          <p:cNvPr id="143" name="Rectangle 41732_#color_#shadow_$dk1-788&amp;2007"/>
          <p:cNvSpPr/>
          <p:nvPr>
            <p:custDataLst>
              <p:tags r:id="rId1"/>
            </p:custDataLst>
          </p:nvPr>
        </p:nvSpPr>
        <p:spPr>
          <a:xfrm>
            <a:off x="281940" y="1109980"/>
            <a:ext cx="8534400" cy="1531620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en-US" sz="161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5" name="矩形 2"/>
          <p:cNvSpPr/>
          <p:nvPr>
            <p:custDataLst>
              <p:tags r:id="rId2"/>
            </p:custDataLst>
          </p:nvPr>
        </p:nvSpPr>
        <p:spPr>
          <a:xfrm>
            <a:off x="436880" y="1570990"/>
            <a:ext cx="8239760" cy="586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A Design Pattern is a reusable and proven blueprint that provides a general solution to commonly occurring software design problems. It is not ready-made code but a customizable template that developers adapt according to their needs.</a:t>
            </a:r>
            <a:endParaRPr lang="en-US" altLang="en-US" dirty="0">
              <a:solidFill>
                <a:srgbClr val="40404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6" name="矩形 3"/>
          <p:cNvSpPr/>
          <p:nvPr>
            <p:custDataLst>
              <p:tags r:id="rId3"/>
            </p:custDataLst>
          </p:nvPr>
        </p:nvSpPr>
        <p:spPr>
          <a:xfrm>
            <a:off x="436880" y="1228090"/>
            <a:ext cx="8239760" cy="3409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79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Design Pattern</a:t>
            </a:r>
            <a:endParaRPr lang="en-US" sz="1795" b="1" dirty="0">
              <a:solidFill>
                <a:srgbClr val="151515"/>
              </a:solidFill>
              <a:latin typeface="+mj-lt"/>
            </a:endParaRPr>
          </a:p>
        </p:txBody>
      </p:sp>
      <p:sp>
        <p:nvSpPr>
          <p:cNvPr id="147" name="Rectangle 41732_#color_#shadow_$dk1-788&amp;2007"/>
          <p:cNvSpPr/>
          <p:nvPr>
            <p:custDataLst>
              <p:tags r:id="rId4"/>
            </p:custDataLst>
          </p:nvPr>
        </p:nvSpPr>
        <p:spPr>
          <a:xfrm>
            <a:off x="281940" y="2794635"/>
            <a:ext cx="8534400" cy="984250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2">
                <a:alpha val="20000"/>
              </a:schemeClr>
            </a:outerShdw>
          </a:effectLst>
        </p:spPr>
        <p:txBody>
          <a:bodyPr/>
          <a:lstStyle/>
          <a:p>
            <a:endParaRPr lang="en-US" sz="161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9" name="矩形 8"/>
          <p:cNvSpPr/>
          <p:nvPr>
            <p:custDataLst>
              <p:tags r:id="rId5"/>
            </p:custDataLst>
          </p:nvPr>
        </p:nvSpPr>
        <p:spPr>
          <a:xfrm>
            <a:off x="436880" y="3255010"/>
            <a:ext cx="8239760" cy="377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Not actual code, just an idea or structure.</a:t>
            </a:r>
            <a:endParaRPr lang="en-US" altLang="en-US" dirty="0">
              <a:solidFill>
                <a:srgbClr val="40404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矩形 9"/>
          <p:cNvSpPr/>
          <p:nvPr>
            <p:custDataLst>
              <p:tags r:id="rId6"/>
            </p:custDataLst>
          </p:nvPr>
        </p:nvSpPr>
        <p:spPr>
          <a:xfrm>
            <a:off x="436880" y="2912110"/>
            <a:ext cx="8239760" cy="3409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79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General Concept</a:t>
            </a:r>
            <a:endParaRPr lang="en-US" sz="1795" b="1">
              <a:solidFill>
                <a:srgbClr val="151515"/>
              </a:solidFill>
              <a:latin typeface="+mj-lt"/>
            </a:endParaRPr>
          </a:p>
        </p:txBody>
      </p:sp>
      <p:sp>
        <p:nvSpPr>
          <p:cNvPr id="151" name="Rectangle 41732_#color_#shadow_$dk1-788&amp;2007"/>
          <p:cNvSpPr/>
          <p:nvPr>
            <p:custDataLst>
              <p:tags r:id="rId7"/>
            </p:custDataLst>
          </p:nvPr>
        </p:nvSpPr>
        <p:spPr>
          <a:xfrm>
            <a:off x="281940" y="3977640"/>
            <a:ext cx="8534400" cy="923925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en-US" sz="161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3" name="矩形 11"/>
          <p:cNvSpPr/>
          <p:nvPr>
            <p:custDataLst>
              <p:tags r:id="rId8"/>
            </p:custDataLst>
          </p:nvPr>
        </p:nvSpPr>
        <p:spPr>
          <a:xfrm>
            <a:off x="436880" y="4438015"/>
            <a:ext cx="8239760" cy="3435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be adapted to different programs</a:t>
            </a:r>
            <a:endParaRPr lang="en-US" altLang="en-US" dirty="0">
              <a:solidFill>
                <a:srgbClr val="40404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4" name="矩形 12"/>
          <p:cNvSpPr/>
          <p:nvPr>
            <p:custDataLst>
              <p:tags r:id="rId9"/>
            </p:custDataLst>
          </p:nvPr>
        </p:nvSpPr>
        <p:spPr>
          <a:xfrm>
            <a:off x="436880" y="4095115"/>
            <a:ext cx="8239760" cy="3409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79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Customizable </a:t>
            </a:r>
            <a:endParaRPr lang="en-US" sz="1795" b="1">
              <a:solidFill>
                <a:srgbClr val="151515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/>
          <p:nvPr/>
        </p:nvSpPr>
        <p:spPr>
          <a:xfrm rot="5400000">
            <a:off x="4182745" y="-4178300"/>
            <a:ext cx="793115" cy="91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7"/>
          <p:cNvSpPr txBox="1">
            <a:spLocks noGrp="1"/>
          </p:cNvSpPr>
          <p:nvPr>
            <p:ph type="ctrTitle"/>
          </p:nvPr>
        </p:nvSpPr>
        <p:spPr>
          <a:xfrm>
            <a:off x="612775" y="3810"/>
            <a:ext cx="7933055" cy="792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accent1">
                    <a:lumMod val="20000"/>
                    <a:lumOff val="80000"/>
                  </a:schemeClr>
                </a:solidFill>
              </a:rPr>
              <a:t>Why Should You Learn Design Patterns?</a:t>
            </a:r>
          </a:p>
        </p:txBody>
      </p:sp>
      <p:sp>
        <p:nvSpPr>
          <p:cNvPr id="46" name="Google Shape;485;p47"/>
          <p:cNvSpPr txBox="1"/>
          <p:nvPr/>
        </p:nvSpPr>
        <p:spPr>
          <a:xfrm>
            <a:off x="7452360" y="3869055"/>
            <a:ext cx="1529715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>
                <a:solidFill>
                  <a:schemeClr val="dk1"/>
                </a:solidFill>
                <a:latin typeface="Times New Roman" panose="02020603050405020304" charset="0"/>
                <a:ea typeface="Catamaran Light"/>
                <a:cs typeface="Times New Roman" panose="02020603050405020304" charset="0"/>
                <a:sym typeface="Catamaran Light"/>
              </a:rPr>
              <a:t>Save Time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421005" y="1189990"/>
            <a:ext cx="7919696" cy="3406408"/>
            <a:chOff x="889" y="1535"/>
            <a:chExt cx="12960" cy="6323"/>
          </a:xfrm>
        </p:grpSpPr>
        <p:sp>
          <p:nvSpPr>
            <p:cNvPr id="485" name="Google Shape;485;p47"/>
            <p:cNvSpPr txBox="1"/>
            <p:nvPr/>
          </p:nvSpPr>
          <p:spPr>
            <a:xfrm>
              <a:off x="8537" y="6501"/>
              <a:ext cx="3010" cy="1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00">
                  <a:solidFill>
                    <a:schemeClr val="dk1"/>
                  </a:solidFill>
                  <a:latin typeface="Times New Roman" panose="02020603050405020304" charset="0"/>
                  <a:ea typeface="Catamaran Light"/>
                  <a:cs typeface="Times New Roman" panose="02020603050405020304" charset="0"/>
                  <a:sym typeface="Catamaran Light"/>
                </a:rPr>
                <a:t>Better Communication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889" y="1589"/>
              <a:ext cx="9225" cy="5986"/>
              <a:chOff x="101" y="638"/>
              <a:chExt cx="12592" cy="6964"/>
            </a:xfrm>
          </p:grpSpPr>
          <p:sp>
            <p:nvSpPr>
              <p:cNvPr id="479" name="Google Shape;479;p47"/>
              <p:cNvSpPr txBox="1"/>
              <p:nvPr/>
            </p:nvSpPr>
            <p:spPr>
              <a:xfrm>
                <a:off x="5517" y="6353"/>
                <a:ext cx="3252" cy="12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US" sz="2000">
                    <a:solidFill>
                      <a:schemeClr val="dk1"/>
                    </a:solidFill>
                    <a:latin typeface="Times New Roman" panose="02020603050405020304" charset="0"/>
                    <a:ea typeface="Catamaran Light"/>
                    <a:cs typeface="Times New Roman" panose="02020603050405020304" charset="0"/>
                    <a:sym typeface="Catamaran Light"/>
                  </a:rPr>
                  <a:t>OOP Principles</a:t>
                </a:r>
              </a:p>
            </p:txBody>
          </p:sp>
          <p:sp>
            <p:nvSpPr>
              <p:cNvPr id="482" name="Google Shape;482;p47"/>
              <p:cNvSpPr txBox="1"/>
              <p:nvPr/>
            </p:nvSpPr>
            <p:spPr>
              <a:xfrm>
                <a:off x="279" y="6310"/>
                <a:ext cx="2916" cy="12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US" sz="2000">
                    <a:solidFill>
                      <a:schemeClr val="dk1"/>
                    </a:solidFill>
                    <a:latin typeface="Times New Roman" panose="02020603050405020304" charset="0"/>
                    <a:ea typeface="Catamaran Light"/>
                    <a:cs typeface="Times New Roman" panose="02020603050405020304" charset="0"/>
                    <a:sym typeface="Catamaran Light"/>
                  </a:rPr>
                  <a:t>Proven Solutions</a:t>
                </a:r>
              </a:p>
            </p:txBody>
          </p:sp>
          <p:grpSp>
            <p:nvGrpSpPr>
              <p:cNvPr id="3" name="Group 0"/>
              <p:cNvGrpSpPr/>
              <p:nvPr/>
            </p:nvGrpSpPr>
            <p:grpSpPr>
              <a:xfrm>
                <a:off x="101" y="638"/>
                <a:ext cx="12454" cy="6625"/>
                <a:chOff x="1485" y="638"/>
                <a:chExt cx="11070" cy="6625"/>
              </a:xfrm>
            </p:grpSpPr>
            <p:sp>
              <p:nvSpPr>
                <p:cNvPr id="456" name="Google Shape;456;p47"/>
                <p:cNvSpPr/>
                <p:nvPr/>
              </p:nvSpPr>
              <p:spPr>
                <a:xfrm>
                  <a:off x="8400" y="840"/>
                  <a:ext cx="555" cy="1503"/>
                </a:xfrm>
                <a:prstGeom prst="rect">
                  <a:avLst/>
                </a:prstGeom>
                <a:solidFill>
                  <a:schemeClr val="accent3">
                    <a:alpha val="58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47"/>
                <p:cNvSpPr/>
                <p:nvPr/>
              </p:nvSpPr>
              <p:spPr>
                <a:xfrm>
                  <a:off x="3780" y="840"/>
                  <a:ext cx="555" cy="1503"/>
                </a:xfrm>
                <a:prstGeom prst="rect">
                  <a:avLst/>
                </a:prstGeom>
                <a:solidFill>
                  <a:schemeClr val="accent3">
                    <a:alpha val="58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47"/>
                <p:cNvSpPr/>
                <p:nvPr/>
              </p:nvSpPr>
              <p:spPr>
                <a:xfrm>
                  <a:off x="6125" y="5760"/>
                  <a:ext cx="555" cy="1503"/>
                </a:xfrm>
                <a:prstGeom prst="rect">
                  <a:avLst/>
                </a:prstGeom>
                <a:solidFill>
                  <a:schemeClr val="accent3">
                    <a:alpha val="58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47"/>
                <p:cNvSpPr/>
                <p:nvPr/>
              </p:nvSpPr>
              <p:spPr>
                <a:xfrm>
                  <a:off x="10580" y="5760"/>
                  <a:ext cx="555" cy="1503"/>
                </a:xfrm>
                <a:prstGeom prst="rect">
                  <a:avLst/>
                </a:prstGeom>
                <a:solidFill>
                  <a:schemeClr val="accent3">
                    <a:alpha val="58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47"/>
                <p:cNvSpPr/>
                <p:nvPr/>
              </p:nvSpPr>
              <p:spPr>
                <a:xfrm>
                  <a:off x="1485" y="5760"/>
                  <a:ext cx="555" cy="1503"/>
                </a:xfrm>
                <a:prstGeom prst="rect">
                  <a:avLst/>
                </a:prstGeom>
                <a:solidFill>
                  <a:schemeClr val="accent3">
                    <a:alpha val="58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61" name="Google Shape;461;p47"/>
                <p:cNvCxnSpPr/>
                <p:nvPr/>
              </p:nvCxnSpPr>
              <p:spPr>
                <a:xfrm rot="10800000">
                  <a:off x="3955" y="840"/>
                  <a:ext cx="0" cy="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2" name="Google Shape;462;p47"/>
                <p:cNvCxnSpPr/>
                <p:nvPr/>
              </p:nvCxnSpPr>
              <p:spPr>
                <a:xfrm rot="10800000">
                  <a:off x="8545" y="840"/>
                  <a:ext cx="0" cy="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64" name="Google Shape;464;p47"/>
                <p:cNvSpPr txBox="1"/>
                <p:nvPr/>
              </p:nvSpPr>
              <p:spPr>
                <a:xfrm>
                  <a:off x="3945" y="1111"/>
                  <a:ext cx="2916" cy="10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en-US" sz="2000">
                      <a:solidFill>
                        <a:schemeClr val="dk1"/>
                      </a:solidFill>
                      <a:latin typeface="Times New Roman" panose="02020603050405020304" charset="0"/>
                      <a:ea typeface="Catamaran Light"/>
                      <a:cs typeface="Times New Roman" panose="02020603050405020304" charset="0"/>
                      <a:sym typeface="Catamaran Light"/>
                    </a:rPr>
                    <a:t>Common Problems</a:t>
                  </a:r>
                </a:p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altLang="en-US" sz="2000">
                    <a:solidFill>
                      <a:schemeClr val="dk1"/>
                    </a:solidFill>
                    <a:latin typeface="Times New Roman" panose="02020603050405020304" charset="0"/>
                    <a:ea typeface="Catamaran Light"/>
                    <a:cs typeface="Times New Roman" panose="02020603050405020304" charset="0"/>
                    <a:sym typeface="Catamaran Light"/>
                  </a:endParaRPr>
                </a:p>
              </p:txBody>
            </p:sp>
            <p:sp>
              <p:nvSpPr>
                <p:cNvPr id="465" name="Google Shape;465;p47"/>
                <p:cNvSpPr txBox="1"/>
                <p:nvPr/>
              </p:nvSpPr>
              <p:spPr>
                <a:xfrm>
                  <a:off x="3915" y="638"/>
                  <a:ext cx="1785" cy="7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02.</a:t>
                  </a:r>
                </a:p>
              </p:txBody>
            </p:sp>
            <p:grpSp>
              <p:nvGrpSpPr>
                <p:cNvPr id="466" name="Google Shape;466;p47"/>
                <p:cNvGrpSpPr/>
                <p:nvPr/>
              </p:nvGrpSpPr>
              <p:grpSpPr>
                <a:xfrm>
                  <a:off x="1485" y="3875"/>
                  <a:ext cx="9451" cy="350"/>
                  <a:chOff x="1464850" y="436376"/>
                  <a:chExt cx="6001362" cy="222300"/>
                </a:xfrm>
              </p:grpSpPr>
              <p:sp>
                <p:nvSpPr>
                  <p:cNvPr id="467" name="Google Shape;467;p47"/>
                  <p:cNvSpPr/>
                  <p:nvPr/>
                </p:nvSpPr>
                <p:spPr>
                  <a:xfrm>
                    <a:off x="1464850" y="436376"/>
                    <a:ext cx="222300" cy="222300"/>
                  </a:xfrm>
                  <a:prstGeom prst="diamond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47"/>
                  <p:cNvSpPr/>
                  <p:nvPr/>
                </p:nvSpPr>
                <p:spPr>
                  <a:xfrm>
                    <a:off x="4410215" y="436376"/>
                    <a:ext cx="222300" cy="222300"/>
                  </a:xfrm>
                  <a:prstGeom prst="diamond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47"/>
                  <p:cNvSpPr/>
                  <p:nvPr/>
                </p:nvSpPr>
                <p:spPr>
                  <a:xfrm>
                    <a:off x="7243912" y="436376"/>
                    <a:ext cx="222300" cy="222300"/>
                  </a:xfrm>
                  <a:prstGeom prst="diamond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/>
                  </a:p>
                </p:txBody>
              </p:sp>
              <p:sp>
                <p:nvSpPr>
                  <p:cNvPr id="470" name="Google Shape;470;p47"/>
                  <p:cNvSpPr/>
                  <p:nvPr/>
                </p:nvSpPr>
                <p:spPr>
                  <a:xfrm>
                    <a:off x="2920366" y="436376"/>
                    <a:ext cx="222300" cy="222300"/>
                  </a:xfrm>
                  <a:prstGeom prst="diamond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47"/>
                  <p:cNvSpPr/>
                  <p:nvPr/>
                </p:nvSpPr>
                <p:spPr>
                  <a:xfrm>
                    <a:off x="5831847" y="436376"/>
                    <a:ext cx="222300" cy="222300"/>
                  </a:xfrm>
                  <a:prstGeom prst="diamond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472" name="Google Shape;472;p47"/>
                  <p:cNvCxnSpPr/>
                  <p:nvPr/>
                </p:nvCxnSpPr>
                <p:spPr>
                  <a:xfrm>
                    <a:off x="1798637" y="547513"/>
                    <a:ext cx="9882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3" name="Google Shape;473;p47"/>
                  <p:cNvCxnSpPr/>
                  <p:nvPr/>
                </p:nvCxnSpPr>
                <p:spPr>
                  <a:xfrm>
                    <a:off x="3276248" y="547513"/>
                    <a:ext cx="9882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4" name="Google Shape;474;p47"/>
                  <p:cNvCxnSpPr/>
                  <p:nvPr/>
                </p:nvCxnSpPr>
                <p:spPr>
                  <a:xfrm>
                    <a:off x="4753898" y="547513"/>
                    <a:ext cx="9882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5" name="Google Shape;475;p47"/>
                  <p:cNvCxnSpPr/>
                  <p:nvPr/>
                </p:nvCxnSpPr>
                <p:spPr>
                  <a:xfrm>
                    <a:off x="6143961" y="547513"/>
                    <a:ext cx="9882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476" name="Google Shape;476;p47"/>
                <p:cNvSpPr txBox="1"/>
                <p:nvPr/>
              </p:nvSpPr>
              <p:spPr>
                <a:xfrm>
                  <a:off x="8535" y="1111"/>
                  <a:ext cx="2916" cy="10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en-US" sz="2000">
                      <a:solidFill>
                        <a:schemeClr val="dk1"/>
                      </a:solidFill>
                      <a:latin typeface="Times New Roman" panose="02020603050405020304" charset="0"/>
                      <a:ea typeface="Catamaran Light"/>
                      <a:cs typeface="Times New Roman" panose="02020603050405020304" charset="0"/>
                      <a:sym typeface="Catamaran Light"/>
                    </a:rPr>
                    <a:t>Code Reusability</a:t>
                  </a:r>
                </a:p>
              </p:txBody>
            </p:sp>
            <p:sp>
              <p:nvSpPr>
                <p:cNvPr id="477" name="Google Shape;477;p47"/>
                <p:cNvSpPr txBox="1"/>
                <p:nvPr/>
              </p:nvSpPr>
              <p:spPr>
                <a:xfrm>
                  <a:off x="8505" y="638"/>
                  <a:ext cx="1785" cy="7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0</a:t>
                  </a:r>
                  <a:r>
                    <a:rPr 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4</a:t>
                  </a:r>
                  <a:r>
                    <a:rPr lang="en-US" alt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.</a:t>
                  </a:r>
                </a:p>
              </p:txBody>
            </p:sp>
            <p:cxnSp>
              <p:nvCxnSpPr>
                <p:cNvPr id="478" name="Google Shape;478;p47"/>
                <p:cNvCxnSpPr/>
                <p:nvPr/>
              </p:nvCxnSpPr>
              <p:spPr>
                <a:xfrm rot="10800000">
                  <a:off x="6280" y="4066"/>
                  <a:ext cx="0" cy="3194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80" name="Google Shape;480;p47"/>
                <p:cNvSpPr txBox="1"/>
                <p:nvPr/>
              </p:nvSpPr>
              <p:spPr>
                <a:xfrm>
                  <a:off x="6301" y="5514"/>
                  <a:ext cx="1785" cy="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0</a:t>
                  </a:r>
                  <a:r>
                    <a:rPr 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3</a:t>
                  </a:r>
                  <a:r>
                    <a:rPr lang="en-US" alt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.</a:t>
                  </a:r>
                </a:p>
              </p:txBody>
            </p:sp>
            <p:cxnSp>
              <p:nvCxnSpPr>
                <p:cNvPr id="481" name="Google Shape;481;p47"/>
                <p:cNvCxnSpPr/>
                <p:nvPr/>
              </p:nvCxnSpPr>
              <p:spPr>
                <a:xfrm rot="10800000">
                  <a:off x="1645" y="4066"/>
                  <a:ext cx="0" cy="3194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83" name="Google Shape;483;p47"/>
                <p:cNvSpPr txBox="1"/>
                <p:nvPr/>
              </p:nvSpPr>
              <p:spPr>
                <a:xfrm>
                  <a:off x="1620" y="5514"/>
                  <a:ext cx="1785" cy="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01.</a:t>
                  </a:r>
                </a:p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>
                    <a:solidFill>
                      <a:schemeClr val="dk1"/>
                    </a:solidFill>
                    <a:latin typeface="Times New Roman" panose="02020603050405020304" charset="0"/>
                    <a:ea typeface="Livvic"/>
                    <a:cs typeface="Times New Roman" panose="02020603050405020304" charset="0"/>
                    <a:sym typeface="Livvic"/>
                  </a:endParaRPr>
                </a:p>
              </p:txBody>
            </p:sp>
            <p:cxnSp>
              <p:nvCxnSpPr>
                <p:cNvPr id="484" name="Google Shape;484;p47"/>
                <p:cNvCxnSpPr/>
                <p:nvPr/>
              </p:nvCxnSpPr>
              <p:spPr>
                <a:xfrm rot="10800000">
                  <a:off x="10765" y="4066"/>
                  <a:ext cx="0" cy="3194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86" name="Google Shape;486;p47"/>
                <p:cNvSpPr txBox="1"/>
                <p:nvPr/>
              </p:nvSpPr>
              <p:spPr>
                <a:xfrm>
                  <a:off x="10770" y="5514"/>
                  <a:ext cx="1785" cy="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0</a:t>
                  </a:r>
                  <a:r>
                    <a:rPr 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5</a:t>
                  </a:r>
                  <a:r>
                    <a:rPr lang="en-US" altLang="en-GB" sz="1800" b="1">
                      <a:solidFill>
                        <a:schemeClr val="dk1"/>
                      </a:solidFill>
                      <a:latin typeface="Times New Roman" panose="02020603050405020304" charset="0"/>
                      <a:ea typeface="Livvic"/>
                      <a:cs typeface="Times New Roman" panose="02020603050405020304" charset="0"/>
                      <a:sym typeface="Livvic"/>
                    </a:rPr>
                    <a:t>.</a:t>
                  </a:r>
                </a:p>
              </p:txBody>
            </p:sp>
          </p:grpSp>
          <p:cxnSp>
            <p:nvCxnSpPr>
              <p:cNvPr id="2" name="Google Shape;475;p47"/>
              <p:cNvCxnSpPr/>
              <p:nvPr/>
            </p:nvCxnSpPr>
            <p:spPr>
              <a:xfrm>
                <a:off x="10942" y="4050"/>
                <a:ext cx="1751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" name="Google Shape;475;p47"/>
            <p:cNvCxnSpPr/>
            <p:nvPr/>
          </p:nvCxnSpPr>
          <p:spPr>
            <a:xfrm>
              <a:off x="10757" y="4521"/>
              <a:ext cx="1283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" name="Google Shape;470;p47"/>
            <p:cNvSpPr/>
            <p:nvPr/>
          </p:nvSpPr>
          <p:spPr>
            <a:xfrm>
              <a:off x="12226" y="4371"/>
              <a:ext cx="289" cy="301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59;p47"/>
            <p:cNvSpPr/>
            <p:nvPr/>
          </p:nvSpPr>
          <p:spPr>
            <a:xfrm>
              <a:off x="12221" y="5998"/>
              <a:ext cx="458" cy="1292"/>
            </a:xfrm>
            <a:prstGeom prst="rect">
              <a:avLst/>
            </a:prstGeom>
            <a:solidFill>
              <a:schemeClr val="accent3">
                <a:alpha val="584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69;p47"/>
            <p:cNvSpPr/>
            <p:nvPr/>
          </p:nvSpPr>
          <p:spPr>
            <a:xfrm>
              <a:off x="12226" y="4377"/>
              <a:ext cx="289" cy="301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/>
            </a:p>
          </p:txBody>
        </p:sp>
        <p:cxnSp>
          <p:nvCxnSpPr>
            <p:cNvPr id="49" name="Google Shape;484;p47"/>
            <p:cNvCxnSpPr/>
            <p:nvPr/>
          </p:nvCxnSpPr>
          <p:spPr>
            <a:xfrm rot="10800000">
              <a:off x="12374" y="4541"/>
              <a:ext cx="0" cy="274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Google Shape;486;p47"/>
            <p:cNvSpPr txBox="1"/>
            <p:nvPr/>
          </p:nvSpPr>
          <p:spPr>
            <a:xfrm>
              <a:off x="12378" y="5787"/>
              <a:ext cx="1471" cy="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Times New Roman" panose="02020603050405020304" charset="0"/>
                  <a:ea typeface="Livvic"/>
                  <a:cs typeface="Times New Roman" panose="02020603050405020304" charset="0"/>
                  <a:sym typeface="Livvic"/>
                </a:rPr>
                <a:t>07.</a:t>
              </a:r>
            </a:p>
          </p:txBody>
        </p:sp>
        <p:sp>
          <p:nvSpPr>
            <p:cNvPr id="52" name="Google Shape;456;p47"/>
            <p:cNvSpPr/>
            <p:nvPr/>
          </p:nvSpPr>
          <p:spPr>
            <a:xfrm>
              <a:off x="10331" y="1709"/>
              <a:ext cx="458" cy="1292"/>
            </a:xfrm>
            <a:prstGeom prst="rect">
              <a:avLst/>
            </a:prstGeom>
            <a:solidFill>
              <a:schemeClr val="accent3">
                <a:alpha val="584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62;p47"/>
            <p:cNvCxnSpPr/>
            <p:nvPr/>
          </p:nvCxnSpPr>
          <p:spPr>
            <a:xfrm rot="10800000">
              <a:off x="10451" y="1709"/>
              <a:ext cx="0" cy="2837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Google Shape;471;p47"/>
            <p:cNvSpPr/>
            <p:nvPr/>
          </p:nvSpPr>
          <p:spPr>
            <a:xfrm>
              <a:off x="10300" y="4318"/>
              <a:ext cx="289" cy="301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76;p47"/>
            <p:cNvSpPr txBox="1"/>
            <p:nvPr/>
          </p:nvSpPr>
          <p:spPr>
            <a:xfrm>
              <a:off x="10443" y="1942"/>
              <a:ext cx="2771" cy="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00">
                  <a:solidFill>
                    <a:schemeClr val="dk1"/>
                  </a:solidFill>
                  <a:latin typeface="Times New Roman" panose="02020603050405020304" charset="0"/>
                  <a:ea typeface="Catamaran Light"/>
                  <a:cs typeface="Times New Roman" panose="02020603050405020304" charset="0"/>
                  <a:sym typeface="Catamaran Light"/>
                </a:rPr>
                <a:t>Common Language</a:t>
              </a:r>
            </a:p>
          </p:txBody>
        </p:sp>
        <p:sp>
          <p:nvSpPr>
            <p:cNvPr id="56" name="Google Shape;477;p47"/>
            <p:cNvSpPr txBox="1"/>
            <p:nvPr/>
          </p:nvSpPr>
          <p:spPr>
            <a:xfrm>
              <a:off x="10418" y="1535"/>
              <a:ext cx="1471" cy="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Times New Roman" panose="02020603050405020304" charset="0"/>
                  <a:ea typeface="Livvic"/>
                  <a:cs typeface="Times New Roman" panose="02020603050405020304" charset="0"/>
                  <a:sym typeface="Livvic"/>
                </a:rPr>
                <a:t>06.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/>
          <p:nvPr/>
        </p:nvSpPr>
        <p:spPr>
          <a:xfrm rot="5400000">
            <a:off x="4182745" y="-4178300"/>
            <a:ext cx="793115" cy="91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title" idx="2"/>
          </p:nvPr>
        </p:nvSpPr>
        <p:spPr>
          <a:xfrm>
            <a:off x="1383030" y="113983"/>
            <a:ext cx="6392545" cy="572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What Does a Design Pattern Consist Of? </a:t>
            </a:r>
          </a:p>
        </p:txBody>
      </p:sp>
      <p:sp>
        <p:nvSpPr>
          <p:cNvPr id="4" name="燕尾形 3"/>
          <p:cNvSpPr/>
          <p:nvPr>
            <p:custDataLst>
              <p:tags r:id="rId1"/>
            </p:custDataLst>
          </p:nvPr>
        </p:nvSpPr>
        <p:spPr>
          <a:xfrm>
            <a:off x="316459" y="3097811"/>
            <a:ext cx="1358190" cy="482249"/>
          </a:xfrm>
          <a:prstGeom prst="chevron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4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0">
                  <a:srgbClr val="AFC5FF">
                    <a:lumMod val="45000"/>
                    <a:lumOff val="55000"/>
                  </a:srgb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rgbClr val="AFC5FF">
                    <a:lumMod val="30000"/>
                    <a:lumOff val="70000"/>
                  </a:srgb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200" b="1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Intent</a:t>
            </a:r>
          </a:p>
        </p:txBody>
      </p: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1640745" y="2991544"/>
            <a:ext cx="356753" cy="694782"/>
          </a:xfrm>
          <a:custGeom>
            <a:avLst/>
            <a:gdLst>
              <a:gd name="connsiteX0" fmla="*/ 23 w 705"/>
              <a:gd name="connsiteY0" fmla="*/ 0 h 1373"/>
              <a:gd name="connsiteX1" fmla="*/ 705 w 705"/>
              <a:gd name="connsiteY1" fmla="*/ 682 h 1373"/>
              <a:gd name="connsiteX2" fmla="*/ 0 w 705"/>
              <a:gd name="connsiteY2" fmla="*/ 1373 h 1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" h="1373">
                <a:moveTo>
                  <a:pt x="23" y="0"/>
                </a:moveTo>
                <a:lnTo>
                  <a:pt x="705" y="682"/>
                </a:lnTo>
                <a:lnTo>
                  <a:pt x="0" y="1373"/>
                </a:lnTo>
              </a:path>
            </a:pathLst>
          </a:custGeom>
          <a:noFill/>
          <a:ln w="22225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435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 flipH="1">
            <a:off x="2678111" y="3687845"/>
            <a:ext cx="611287" cy="611793"/>
          </a:xfrm>
          <a:prstGeom prst="line">
            <a:avLst/>
          </a:prstGeom>
          <a:ln w="12700">
            <a:solidFill>
              <a:schemeClr val="accent2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燕尾形 34"/>
          <p:cNvSpPr/>
          <p:nvPr>
            <p:custDataLst>
              <p:tags r:id="rId4"/>
            </p:custDataLst>
          </p:nvPr>
        </p:nvSpPr>
        <p:spPr>
          <a:xfrm>
            <a:off x="1963420" y="3097530"/>
            <a:ext cx="1486535" cy="481965"/>
          </a:xfrm>
          <a:prstGeom prst="chevron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4000">
                <a:schemeClr val="accent2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500000" scaled="0"/>
            </a:gradFill>
          </a:ln>
          <a:effectLst>
            <a:outerShdw blurRad="1778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275" b="1">
                <a:solidFill>
                  <a:srgbClr val="FFFFFF"/>
                </a:solidFill>
                <a:effectLst/>
                <a:uFillTx/>
                <a:latin typeface="+mj-lt"/>
                <a:sym typeface="+mn-ea"/>
              </a:rPr>
              <a:t>Motivation </a:t>
            </a:r>
          </a:p>
        </p:txBody>
      </p:sp>
      <p:sp>
        <p:nvSpPr>
          <p:cNvPr id="36" name="任意多边形 35"/>
          <p:cNvSpPr/>
          <p:nvPr>
            <p:custDataLst>
              <p:tags r:id="rId5"/>
            </p:custDataLst>
          </p:nvPr>
        </p:nvSpPr>
        <p:spPr>
          <a:xfrm>
            <a:off x="3287880" y="2991544"/>
            <a:ext cx="356753" cy="694782"/>
          </a:xfrm>
          <a:custGeom>
            <a:avLst/>
            <a:gdLst>
              <a:gd name="connsiteX0" fmla="*/ 23 w 705"/>
              <a:gd name="connsiteY0" fmla="*/ 0 h 1373"/>
              <a:gd name="connsiteX1" fmla="*/ 705 w 705"/>
              <a:gd name="connsiteY1" fmla="*/ 682 h 1373"/>
              <a:gd name="connsiteX2" fmla="*/ 0 w 705"/>
              <a:gd name="connsiteY2" fmla="*/ 1373 h 1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" h="1373">
                <a:moveTo>
                  <a:pt x="23" y="0"/>
                </a:moveTo>
                <a:lnTo>
                  <a:pt x="705" y="682"/>
                </a:lnTo>
                <a:lnTo>
                  <a:pt x="0" y="1373"/>
                </a:lnTo>
              </a:path>
            </a:pathLst>
          </a:custGeom>
          <a:noFill/>
          <a:ln w="22225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435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6"/>
            </p:custDataLst>
          </p:nvPr>
        </p:nvCxnSpPr>
        <p:spPr>
          <a:xfrm flipH="1" flipV="1">
            <a:off x="1039072" y="2380764"/>
            <a:ext cx="610781" cy="610781"/>
          </a:xfrm>
          <a:prstGeom prst="line">
            <a:avLst/>
          </a:prstGeom>
          <a:ln w="12700">
            <a:solidFill>
              <a:schemeClr val="accent1">
                <a:alpha val="6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燕尾形 39"/>
          <p:cNvSpPr/>
          <p:nvPr>
            <p:custDataLst>
              <p:tags r:id="rId7"/>
            </p:custDataLst>
          </p:nvPr>
        </p:nvSpPr>
        <p:spPr>
          <a:xfrm>
            <a:off x="3610728" y="3097811"/>
            <a:ext cx="1358190" cy="482249"/>
          </a:xfrm>
          <a:prstGeom prst="chevron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4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0">
                  <a:srgbClr val="AFC5FF">
                    <a:lumMod val="45000"/>
                    <a:lumOff val="55000"/>
                  </a:srgb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rgbClr val="AFC5FF">
                    <a:lumMod val="30000"/>
                    <a:lumOff val="70000"/>
                  </a:srgb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200" b="1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Structure</a:t>
            </a:r>
          </a:p>
        </p:txBody>
      </p:sp>
      <p:sp>
        <p:nvSpPr>
          <p:cNvPr id="41" name="任意多边形 40"/>
          <p:cNvSpPr/>
          <p:nvPr>
            <p:custDataLst>
              <p:tags r:id="rId8"/>
            </p:custDataLst>
          </p:nvPr>
        </p:nvSpPr>
        <p:spPr>
          <a:xfrm>
            <a:off x="4935014" y="2991544"/>
            <a:ext cx="356753" cy="694782"/>
          </a:xfrm>
          <a:custGeom>
            <a:avLst/>
            <a:gdLst>
              <a:gd name="connsiteX0" fmla="*/ 23 w 705"/>
              <a:gd name="connsiteY0" fmla="*/ 0 h 1373"/>
              <a:gd name="connsiteX1" fmla="*/ 705 w 705"/>
              <a:gd name="connsiteY1" fmla="*/ 682 h 1373"/>
              <a:gd name="connsiteX2" fmla="*/ 0 w 705"/>
              <a:gd name="connsiteY2" fmla="*/ 1373 h 1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" h="1373">
                <a:moveTo>
                  <a:pt x="23" y="0"/>
                </a:moveTo>
                <a:lnTo>
                  <a:pt x="705" y="682"/>
                </a:lnTo>
                <a:lnTo>
                  <a:pt x="0" y="1373"/>
                </a:lnTo>
              </a:path>
            </a:pathLst>
          </a:custGeom>
          <a:noFill/>
          <a:ln w="22225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435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9"/>
            </p:custDataLst>
          </p:nvPr>
        </p:nvCxnSpPr>
        <p:spPr>
          <a:xfrm flipH="1">
            <a:off x="5974910" y="3687845"/>
            <a:ext cx="611287" cy="611793"/>
          </a:xfrm>
          <a:prstGeom prst="line">
            <a:avLst/>
          </a:prstGeom>
          <a:ln w="12700">
            <a:solidFill>
              <a:schemeClr val="accent2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燕尾形 123"/>
          <p:cNvSpPr/>
          <p:nvPr>
            <p:custDataLst>
              <p:tags r:id="rId10"/>
            </p:custDataLst>
          </p:nvPr>
        </p:nvSpPr>
        <p:spPr>
          <a:xfrm>
            <a:off x="5257863" y="3097811"/>
            <a:ext cx="1358190" cy="482249"/>
          </a:xfrm>
          <a:prstGeom prst="chevron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44000">
                <a:schemeClr val="accent2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500000" scaled="0"/>
            </a:gradFill>
          </a:ln>
          <a:effectLst>
            <a:outerShdw blurRad="1778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200" b="1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Example</a:t>
            </a:r>
          </a:p>
        </p:txBody>
      </p:sp>
      <p:sp>
        <p:nvSpPr>
          <p:cNvPr id="125" name="任意多边形 124"/>
          <p:cNvSpPr/>
          <p:nvPr>
            <p:custDataLst>
              <p:tags r:id="rId11"/>
            </p:custDataLst>
          </p:nvPr>
        </p:nvSpPr>
        <p:spPr>
          <a:xfrm>
            <a:off x="6582149" y="2991544"/>
            <a:ext cx="356753" cy="694782"/>
          </a:xfrm>
          <a:custGeom>
            <a:avLst/>
            <a:gdLst>
              <a:gd name="connsiteX0" fmla="*/ 23 w 705"/>
              <a:gd name="connsiteY0" fmla="*/ 0 h 1373"/>
              <a:gd name="connsiteX1" fmla="*/ 705 w 705"/>
              <a:gd name="connsiteY1" fmla="*/ 682 h 1373"/>
              <a:gd name="connsiteX2" fmla="*/ 0 w 705"/>
              <a:gd name="connsiteY2" fmla="*/ 1373 h 1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" h="1373">
                <a:moveTo>
                  <a:pt x="23" y="0"/>
                </a:moveTo>
                <a:lnTo>
                  <a:pt x="705" y="682"/>
                </a:lnTo>
                <a:lnTo>
                  <a:pt x="0" y="1373"/>
                </a:lnTo>
              </a:path>
            </a:pathLst>
          </a:custGeom>
          <a:noFill/>
          <a:ln w="22225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435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6" name="直接连接符 125"/>
          <p:cNvCxnSpPr/>
          <p:nvPr>
            <p:custDataLst>
              <p:tags r:id="rId12"/>
            </p:custDataLst>
          </p:nvPr>
        </p:nvCxnSpPr>
        <p:spPr>
          <a:xfrm flipH="1" flipV="1">
            <a:off x="4332330" y="2380764"/>
            <a:ext cx="610781" cy="610781"/>
          </a:xfrm>
          <a:prstGeom prst="line">
            <a:avLst/>
          </a:prstGeom>
          <a:ln w="12700">
            <a:solidFill>
              <a:schemeClr val="accent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13"/>
            </p:custDataLst>
          </p:nvPr>
        </p:nvSpPr>
        <p:spPr>
          <a:xfrm>
            <a:off x="2497963" y="4382121"/>
            <a:ext cx="1864748" cy="71704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Explains why the pattern is needed and how it helps.</a:t>
            </a: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5799823" y="4382121"/>
            <a:ext cx="1864748" cy="71704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n-US" sz="111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sym typeface="+mn-ea"/>
              </a:rPr>
              <a:t>Demonstrates the pattern using sample code.</a:t>
            </a:r>
          </a:p>
        </p:txBody>
      </p:sp>
      <p:sp>
        <p:nvSpPr>
          <p:cNvPr id="17" name="矩形 16"/>
          <p:cNvSpPr/>
          <p:nvPr>
            <p:custDataLst>
              <p:tags r:id="rId15"/>
            </p:custDataLst>
          </p:nvPr>
        </p:nvSpPr>
        <p:spPr>
          <a:xfrm>
            <a:off x="690923" y="1535184"/>
            <a:ext cx="1864748" cy="7170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Briefly describes the problem and solution.</a:t>
            </a:r>
          </a:p>
        </p:txBody>
      </p:sp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4003409" y="1535184"/>
            <a:ext cx="1864748" cy="7170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Shows the classes and their relationships.</a:t>
            </a:r>
          </a:p>
        </p:txBody>
      </p:sp>
      <p:sp>
        <p:nvSpPr>
          <p:cNvPr id="2" name="燕尾形 1"/>
          <p:cNvSpPr/>
          <p:nvPr>
            <p:custDataLst>
              <p:tags r:id="rId17"/>
            </p:custDataLst>
          </p:nvPr>
        </p:nvSpPr>
        <p:spPr>
          <a:xfrm>
            <a:off x="6797040" y="3097530"/>
            <a:ext cx="1685925" cy="481965"/>
          </a:xfrm>
          <a:prstGeom prst="chevron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4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0">
                  <a:srgbClr val="AFC5FF">
                    <a:lumMod val="45000"/>
                    <a:lumOff val="55000"/>
                  </a:srgb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rgbClr val="AFC5FF">
                    <a:lumMod val="30000"/>
                    <a:lumOff val="70000"/>
                  </a:srgb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200" b="1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Applicability</a:t>
            </a:r>
          </a:p>
        </p:txBody>
      </p:sp>
      <p:sp>
        <p:nvSpPr>
          <p:cNvPr id="3" name="任意多边形 2"/>
          <p:cNvSpPr/>
          <p:nvPr>
            <p:custDataLst>
              <p:tags r:id="rId18"/>
            </p:custDataLst>
          </p:nvPr>
        </p:nvSpPr>
        <p:spPr>
          <a:xfrm>
            <a:off x="8229283" y="2991544"/>
            <a:ext cx="356753" cy="694782"/>
          </a:xfrm>
          <a:custGeom>
            <a:avLst/>
            <a:gdLst>
              <a:gd name="connsiteX0" fmla="*/ 23 w 705"/>
              <a:gd name="connsiteY0" fmla="*/ 0 h 1373"/>
              <a:gd name="connsiteX1" fmla="*/ 705 w 705"/>
              <a:gd name="connsiteY1" fmla="*/ 682 h 1373"/>
              <a:gd name="connsiteX2" fmla="*/ 0 w 705"/>
              <a:gd name="connsiteY2" fmla="*/ 1373 h 1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" h="1373">
                <a:moveTo>
                  <a:pt x="23" y="0"/>
                </a:moveTo>
                <a:lnTo>
                  <a:pt x="705" y="682"/>
                </a:lnTo>
                <a:lnTo>
                  <a:pt x="0" y="1373"/>
                </a:lnTo>
              </a:path>
            </a:pathLst>
          </a:custGeom>
          <a:noFill/>
          <a:ln w="22225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435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9"/>
            </p:custDataLst>
          </p:nvPr>
        </p:nvCxnSpPr>
        <p:spPr>
          <a:xfrm flipH="1" flipV="1">
            <a:off x="7627611" y="2380764"/>
            <a:ext cx="610781" cy="610781"/>
          </a:xfrm>
          <a:prstGeom prst="line">
            <a:avLst/>
          </a:prstGeom>
          <a:ln w="12700">
            <a:solidFill>
              <a:schemeClr val="accent1">
                <a:alpha val="6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20"/>
            </p:custDataLst>
          </p:nvPr>
        </p:nvSpPr>
        <p:spPr>
          <a:xfrm>
            <a:off x="7279461" y="1535184"/>
            <a:ext cx="1864748" cy="7170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n-US" sz="111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sym typeface="+mn-ea"/>
              </a:rPr>
              <a:t>Explains when and where to use the pattern.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/>
          <p:nvPr/>
        </p:nvSpPr>
        <p:spPr>
          <a:xfrm rot="5400000">
            <a:off x="4182745" y="-4178300"/>
            <a:ext cx="793115" cy="91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title" idx="2"/>
          </p:nvPr>
        </p:nvSpPr>
        <p:spPr>
          <a:xfrm>
            <a:off x="1383030" y="113983"/>
            <a:ext cx="6392545" cy="572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Classification of Design Patterns</a:t>
            </a: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863490" y="1143975"/>
            <a:ext cx="2465254" cy="61644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Creational patterns </a:t>
            </a:r>
          </a:p>
        </p:txBody>
      </p:sp>
      <p:sp>
        <p:nvSpPr>
          <p:cNvPr id="6" name="椭圆 40"/>
          <p:cNvSpPr/>
          <p:nvPr>
            <p:custDataLst>
              <p:tags r:id="rId2"/>
            </p:custDataLst>
          </p:nvPr>
        </p:nvSpPr>
        <p:spPr>
          <a:xfrm>
            <a:off x="4486771" y="1556029"/>
            <a:ext cx="187544" cy="187544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0">
              <a:solidFill>
                <a:schemeClr val="lt1"/>
              </a:solidFill>
            </a:endParaRPr>
          </a:p>
        </p:txBody>
      </p:sp>
      <p:sp>
        <p:nvSpPr>
          <p:cNvPr id="7" name="椭圆 41"/>
          <p:cNvSpPr/>
          <p:nvPr>
            <p:custDataLst>
              <p:tags r:id="rId3"/>
            </p:custDataLst>
          </p:nvPr>
        </p:nvSpPr>
        <p:spPr>
          <a:xfrm>
            <a:off x="4548198" y="1617456"/>
            <a:ext cx="64689" cy="646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0">
              <a:solidFill>
                <a:schemeClr val="lt1"/>
              </a:solidFill>
            </a:endParaRPr>
          </a:p>
        </p:txBody>
      </p:sp>
      <p:cxnSp>
        <p:nvCxnSpPr>
          <p:cNvPr id="43" name="直接连接符 42"/>
          <p:cNvCxnSpPr/>
          <p:nvPr>
            <p:custDataLst>
              <p:tags r:id="rId4"/>
            </p:custDataLst>
          </p:nvPr>
        </p:nvCxnSpPr>
        <p:spPr>
          <a:xfrm>
            <a:off x="4674315" y="1650073"/>
            <a:ext cx="189175" cy="0"/>
          </a:xfrm>
          <a:prstGeom prst="line">
            <a:avLst/>
          </a:prstGeom>
          <a:ln>
            <a:solidFill>
              <a:schemeClr val="accent1"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5"/>
          <p:cNvSpPr/>
          <p:nvPr>
            <p:custDataLst>
              <p:tags r:id="rId5"/>
            </p:custDataLst>
          </p:nvPr>
        </p:nvSpPr>
        <p:spPr>
          <a:xfrm>
            <a:off x="6283350" y="3295695"/>
            <a:ext cx="2465254" cy="61644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Behavioral patterns</a:t>
            </a:r>
          </a:p>
        </p:txBody>
      </p:sp>
      <p:sp>
        <p:nvSpPr>
          <p:cNvPr id="44" name="椭圆 43"/>
          <p:cNvSpPr/>
          <p:nvPr>
            <p:custDataLst>
              <p:tags r:id="rId6"/>
            </p:custDataLst>
          </p:nvPr>
        </p:nvSpPr>
        <p:spPr>
          <a:xfrm>
            <a:off x="5906631" y="3706118"/>
            <a:ext cx="187544" cy="187544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0">
              <a:solidFill>
                <a:schemeClr val="lt1"/>
              </a:solidFill>
            </a:endParaRPr>
          </a:p>
        </p:txBody>
      </p:sp>
      <p:sp>
        <p:nvSpPr>
          <p:cNvPr id="45" name="椭圆 44"/>
          <p:cNvSpPr/>
          <p:nvPr>
            <p:custDataLst>
              <p:tags r:id="rId7"/>
            </p:custDataLst>
          </p:nvPr>
        </p:nvSpPr>
        <p:spPr>
          <a:xfrm>
            <a:off x="5968058" y="3767545"/>
            <a:ext cx="64689" cy="64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0">
              <a:solidFill>
                <a:schemeClr val="lt1"/>
              </a:solidFill>
            </a:endParaRPr>
          </a:p>
        </p:txBody>
      </p:sp>
      <p:cxnSp>
        <p:nvCxnSpPr>
          <p:cNvPr id="46" name="直接连接符 45"/>
          <p:cNvCxnSpPr/>
          <p:nvPr>
            <p:custDataLst>
              <p:tags r:id="rId8"/>
            </p:custDataLst>
          </p:nvPr>
        </p:nvCxnSpPr>
        <p:spPr>
          <a:xfrm>
            <a:off x="6094175" y="3800161"/>
            <a:ext cx="189175" cy="0"/>
          </a:xfrm>
          <a:prstGeom prst="line">
            <a:avLst/>
          </a:prstGeom>
          <a:ln>
            <a:solidFill>
              <a:schemeClr val="accent2"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: 形状 13"/>
          <p:cNvSpPr/>
          <p:nvPr>
            <p:custDataLst>
              <p:tags r:id="rId9"/>
            </p:custDataLst>
          </p:nvPr>
        </p:nvSpPr>
        <p:spPr>
          <a:xfrm rot="2347026">
            <a:off x="3332552" y="2589711"/>
            <a:ext cx="1516118" cy="1635711"/>
          </a:xfrm>
          <a:custGeom>
            <a:avLst/>
            <a:gdLst>
              <a:gd name="connsiteX0" fmla="*/ 43734 w 2144482"/>
              <a:gd name="connsiteY0" fmla="*/ 0 h 2313582"/>
              <a:gd name="connsiteX1" fmla="*/ 43838 w 2144482"/>
              <a:gd name="connsiteY1" fmla="*/ 10506 h 2313582"/>
              <a:gd name="connsiteX2" fmla="*/ 1292287 w 2144482"/>
              <a:gd name="connsiteY2" fmla="*/ 1532073 h 2313582"/>
              <a:gd name="connsiteX3" fmla="*/ 2100811 w 2144482"/>
              <a:gd name="connsiteY3" fmla="*/ 1514989 h 2313582"/>
              <a:gd name="connsiteX4" fmla="*/ 2144482 w 2144482"/>
              <a:gd name="connsiteY4" fmla="*/ 1500251 h 2313582"/>
              <a:gd name="connsiteX5" fmla="*/ 2141060 w 2144482"/>
              <a:gd name="connsiteY5" fmla="*/ 1509033 h 2313582"/>
              <a:gd name="connsiteX6" fmla="*/ 1170480 w 2144482"/>
              <a:gd name="connsiteY6" fmla="*/ 2313582 h 2313582"/>
              <a:gd name="connsiteX7" fmla="*/ 0 w 2144482"/>
              <a:gd name="connsiteY7" fmla="*/ 488754 h 2313582"/>
              <a:gd name="connsiteX8" fmla="*/ 23780 w 2144482"/>
              <a:gd name="connsiteY8" fmla="*/ 120987 h 2313582"/>
              <a:gd name="connsiteX9" fmla="*/ 43734 w 2144482"/>
              <a:gd name="connsiteY9" fmla="*/ 0 h 231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44482" h="2313582">
                <a:moveTo>
                  <a:pt x="43734" y="0"/>
                </a:moveTo>
                <a:lnTo>
                  <a:pt x="43838" y="10506"/>
                </a:lnTo>
                <a:cubicBezTo>
                  <a:pt x="85861" y="729340"/>
                  <a:pt x="575833" y="1360985"/>
                  <a:pt x="1292287" y="1532073"/>
                </a:cubicBezTo>
                <a:cubicBezTo>
                  <a:pt x="1567847" y="1597876"/>
                  <a:pt x="1844302" y="1587763"/>
                  <a:pt x="2100811" y="1514989"/>
                </a:cubicBezTo>
                <a:lnTo>
                  <a:pt x="2144482" y="1500251"/>
                </a:lnTo>
                <a:lnTo>
                  <a:pt x="2141060" y="1509033"/>
                </a:lnTo>
                <a:cubicBezTo>
                  <a:pt x="1930717" y="1994440"/>
                  <a:pt x="1574504" y="2313582"/>
                  <a:pt x="1170480" y="2313582"/>
                </a:cubicBezTo>
                <a:cubicBezTo>
                  <a:pt x="524042" y="2313582"/>
                  <a:pt x="0" y="1496579"/>
                  <a:pt x="0" y="488754"/>
                </a:cubicBezTo>
                <a:cubicBezTo>
                  <a:pt x="0" y="362776"/>
                  <a:pt x="8188" y="239780"/>
                  <a:pt x="23780" y="120987"/>
                </a:cubicBezTo>
                <a:lnTo>
                  <a:pt x="4373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540">
              <a:solidFill>
                <a:schemeClr val="lt1"/>
              </a:solidFill>
              <a:sym typeface="+mn-lt"/>
            </a:endParaRPr>
          </a:p>
        </p:txBody>
      </p:sp>
      <p:sp>
        <p:nvSpPr>
          <p:cNvPr id="13" name="任意多边形: 形状 17"/>
          <p:cNvSpPr/>
          <p:nvPr>
            <p:custDataLst>
              <p:tags r:id="rId10"/>
            </p:custDataLst>
          </p:nvPr>
        </p:nvSpPr>
        <p:spPr>
          <a:xfrm rot="16769730">
            <a:off x="4207758" y="2835966"/>
            <a:ext cx="1516118" cy="1635711"/>
          </a:xfrm>
          <a:custGeom>
            <a:avLst/>
            <a:gdLst>
              <a:gd name="connsiteX0" fmla="*/ 43734 w 2144482"/>
              <a:gd name="connsiteY0" fmla="*/ 0 h 2313582"/>
              <a:gd name="connsiteX1" fmla="*/ 43838 w 2144482"/>
              <a:gd name="connsiteY1" fmla="*/ 10506 h 2313582"/>
              <a:gd name="connsiteX2" fmla="*/ 1292287 w 2144482"/>
              <a:gd name="connsiteY2" fmla="*/ 1532073 h 2313582"/>
              <a:gd name="connsiteX3" fmla="*/ 2100811 w 2144482"/>
              <a:gd name="connsiteY3" fmla="*/ 1514989 h 2313582"/>
              <a:gd name="connsiteX4" fmla="*/ 2144482 w 2144482"/>
              <a:gd name="connsiteY4" fmla="*/ 1500251 h 2313582"/>
              <a:gd name="connsiteX5" fmla="*/ 2141060 w 2144482"/>
              <a:gd name="connsiteY5" fmla="*/ 1509033 h 2313582"/>
              <a:gd name="connsiteX6" fmla="*/ 1170480 w 2144482"/>
              <a:gd name="connsiteY6" fmla="*/ 2313582 h 2313582"/>
              <a:gd name="connsiteX7" fmla="*/ 0 w 2144482"/>
              <a:gd name="connsiteY7" fmla="*/ 488754 h 2313582"/>
              <a:gd name="connsiteX8" fmla="*/ 23780 w 2144482"/>
              <a:gd name="connsiteY8" fmla="*/ 120987 h 2313582"/>
              <a:gd name="connsiteX9" fmla="*/ 43734 w 2144482"/>
              <a:gd name="connsiteY9" fmla="*/ 0 h 231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44482" h="2313582">
                <a:moveTo>
                  <a:pt x="43734" y="0"/>
                </a:moveTo>
                <a:lnTo>
                  <a:pt x="43838" y="10506"/>
                </a:lnTo>
                <a:cubicBezTo>
                  <a:pt x="85861" y="729340"/>
                  <a:pt x="575833" y="1360985"/>
                  <a:pt x="1292287" y="1532073"/>
                </a:cubicBezTo>
                <a:cubicBezTo>
                  <a:pt x="1567847" y="1597876"/>
                  <a:pt x="1844302" y="1587763"/>
                  <a:pt x="2100811" y="1514989"/>
                </a:cubicBezTo>
                <a:lnTo>
                  <a:pt x="2144482" y="1500251"/>
                </a:lnTo>
                <a:lnTo>
                  <a:pt x="2141060" y="1509033"/>
                </a:lnTo>
                <a:cubicBezTo>
                  <a:pt x="1930717" y="1994440"/>
                  <a:pt x="1574504" y="2313582"/>
                  <a:pt x="1170480" y="2313582"/>
                </a:cubicBezTo>
                <a:cubicBezTo>
                  <a:pt x="524042" y="2313582"/>
                  <a:pt x="0" y="1496579"/>
                  <a:pt x="0" y="488754"/>
                </a:cubicBezTo>
                <a:cubicBezTo>
                  <a:pt x="0" y="362776"/>
                  <a:pt x="8188" y="239780"/>
                  <a:pt x="23780" y="120987"/>
                </a:cubicBezTo>
                <a:lnTo>
                  <a:pt x="4373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1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540">
              <a:solidFill>
                <a:schemeClr val="lt1"/>
              </a:solidFill>
              <a:sym typeface="+mn-lt"/>
            </a:endParaRPr>
          </a:p>
        </p:txBody>
      </p:sp>
      <p:sp>
        <p:nvSpPr>
          <p:cNvPr id="20" name="任意多边形: 形状 16"/>
          <p:cNvSpPr/>
          <p:nvPr>
            <p:custDataLst>
              <p:tags r:id="rId11"/>
            </p:custDataLst>
          </p:nvPr>
        </p:nvSpPr>
        <p:spPr>
          <a:xfrm rot="9560794">
            <a:off x="3992490" y="1947713"/>
            <a:ext cx="1516118" cy="1635711"/>
          </a:xfrm>
          <a:custGeom>
            <a:avLst/>
            <a:gdLst>
              <a:gd name="connsiteX0" fmla="*/ 43734 w 2144482"/>
              <a:gd name="connsiteY0" fmla="*/ 0 h 2313582"/>
              <a:gd name="connsiteX1" fmla="*/ 43838 w 2144482"/>
              <a:gd name="connsiteY1" fmla="*/ 10506 h 2313582"/>
              <a:gd name="connsiteX2" fmla="*/ 1292287 w 2144482"/>
              <a:gd name="connsiteY2" fmla="*/ 1532073 h 2313582"/>
              <a:gd name="connsiteX3" fmla="*/ 2100811 w 2144482"/>
              <a:gd name="connsiteY3" fmla="*/ 1514989 h 2313582"/>
              <a:gd name="connsiteX4" fmla="*/ 2144482 w 2144482"/>
              <a:gd name="connsiteY4" fmla="*/ 1500251 h 2313582"/>
              <a:gd name="connsiteX5" fmla="*/ 2141060 w 2144482"/>
              <a:gd name="connsiteY5" fmla="*/ 1509033 h 2313582"/>
              <a:gd name="connsiteX6" fmla="*/ 1170480 w 2144482"/>
              <a:gd name="connsiteY6" fmla="*/ 2313582 h 2313582"/>
              <a:gd name="connsiteX7" fmla="*/ 0 w 2144482"/>
              <a:gd name="connsiteY7" fmla="*/ 488754 h 2313582"/>
              <a:gd name="connsiteX8" fmla="*/ 23780 w 2144482"/>
              <a:gd name="connsiteY8" fmla="*/ 120987 h 2313582"/>
              <a:gd name="connsiteX9" fmla="*/ 43734 w 2144482"/>
              <a:gd name="connsiteY9" fmla="*/ 0 h 231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44482" h="2313582">
                <a:moveTo>
                  <a:pt x="43734" y="0"/>
                </a:moveTo>
                <a:lnTo>
                  <a:pt x="43838" y="10506"/>
                </a:lnTo>
                <a:cubicBezTo>
                  <a:pt x="85861" y="729340"/>
                  <a:pt x="575833" y="1360985"/>
                  <a:pt x="1292287" y="1532073"/>
                </a:cubicBezTo>
                <a:cubicBezTo>
                  <a:pt x="1567847" y="1597876"/>
                  <a:pt x="1844302" y="1587763"/>
                  <a:pt x="2100811" y="1514989"/>
                </a:cubicBezTo>
                <a:lnTo>
                  <a:pt x="2144482" y="1500251"/>
                </a:lnTo>
                <a:lnTo>
                  <a:pt x="2141060" y="1509033"/>
                </a:lnTo>
                <a:cubicBezTo>
                  <a:pt x="1930717" y="1994440"/>
                  <a:pt x="1574504" y="2313582"/>
                  <a:pt x="1170480" y="2313582"/>
                </a:cubicBezTo>
                <a:cubicBezTo>
                  <a:pt x="524042" y="2313582"/>
                  <a:pt x="0" y="1496579"/>
                  <a:pt x="0" y="488754"/>
                </a:cubicBezTo>
                <a:cubicBezTo>
                  <a:pt x="0" y="362776"/>
                  <a:pt x="8188" y="239780"/>
                  <a:pt x="23780" y="120987"/>
                </a:cubicBezTo>
                <a:lnTo>
                  <a:pt x="4373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1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540">
              <a:solidFill>
                <a:schemeClr val="lt1"/>
              </a:solidFill>
              <a:sym typeface="+mn-lt"/>
            </a:endParaRPr>
          </a:p>
        </p:txBody>
      </p:sp>
      <p:sp>
        <p:nvSpPr>
          <p:cNvPr id="21" name="矩形 7"/>
          <p:cNvSpPr/>
          <p:nvPr>
            <p:custDataLst>
              <p:tags r:id="rId12"/>
            </p:custDataLst>
          </p:nvPr>
        </p:nvSpPr>
        <p:spPr>
          <a:xfrm>
            <a:off x="434039" y="3299653"/>
            <a:ext cx="2465254" cy="61644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Structural patterns</a:t>
            </a:r>
          </a:p>
        </p:txBody>
      </p:sp>
      <p:sp>
        <p:nvSpPr>
          <p:cNvPr id="50" name="椭圆 49"/>
          <p:cNvSpPr/>
          <p:nvPr>
            <p:custDataLst>
              <p:tags r:id="rId13"/>
            </p:custDataLst>
          </p:nvPr>
        </p:nvSpPr>
        <p:spPr>
          <a:xfrm>
            <a:off x="3098254" y="3710075"/>
            <a:ext cx="187544" cy="187544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0">
              <a:solidFill>
                <a:schemeClr val="lt1"/>
              </a:solidFill>
            </a:endParaRPr>
          </a:p>
        </p:txBody>
      </p:sp>
      <p:sp>
        <p:nvSpPr>
          <p:cNvPr id="23" name="椭圆 15"/>
          <p:cNvSpPr/>
          <p:nvPr>
            <p:custDataLst>
              <p:tags r:id="rId14"/>
            </p:custDataLst>
          </p:nvPr>
        </p:nvSpPr>
        <p:spPr>
          <a:xfrm>
            <a:off x="3159682" y="3771503"/>
            <a:ext cx="64689" cy="646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0">
              <a:solidFill>
                <a:schemeClr val="lt1"/>
              </a:solidFill>
            </a:endParaRPr>
          </a:p>
        </p:txBody>
      </p:sp>
      <p:cxnSp>
        <p:nvCxnSpPr>
          <p:cNvPr id="52" name="直接连接符 51"/>
          <p:cNvCxnSpPr/>
          <p:nvPr>
            <p:custDataLst>
              <p:tags r:id="rId15"/>
            </p:custDataLst>
          </p:nvPr>
        </p:nvCxnSpPr>
        <p:spPr>
          <a:xfrm>
            <a:off x="2909079" y="3804119"/>
            <a:ext cx="189175" cy="0"/>
          </a:xfrm>
          <a:prstGeom prst="line">
            <a:avLst/>
          </a:prstGeom>
          <a:ln>
            <a:solidFill>
              <a:schemeClr val="accent1"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图片 4" descr="343439383331313b343532303034303bcffacadbb9dcc0ed"/>
          <p:cNvSpPr/>
          <p:nvPr>
            <p:custDataLst>
              <p:tags r:id="rId16"/>
            </p:custDataLst>
          </p:nvPr>
        </p:nvSpPr>
        <p:spPr>
          <a:xfrm>
            <a:off x="4538270" y="2191249"/>
            <a:ext cx="210918" cy="210918"/>
          </a:xfrm>
          <a:custGeom>
            <a:avLst/>
            <a:gdLst>
              <a:gd name="connsiteX0" fmla="*/ 27498 w 246379"/>
              <a:gd name="connsiteY0" fmla="*/ 115 h 246379"/>
              <a:gd name="connsiteX1" fmla="*/ 219112 w 246379"/>
              <a:gd name="connsiteY1" fmla="*/ 115 h 246379"/>
              <a:gd name="connsiteX2" fmla="*/ 246495 w 246379"/>
              <a:gd name="connsiteY2" fmla="*/ 27498 h 246379"/>
              <a:gd name="connsiteX3" fmla="*/ 246495 w 246379"/>
              <a:gd name="connsiteY3" fmla="*/ 164362 h 246379"/>
              <a:gd name="connsiteX4" fmla="*/ 219112 w 246379"/>
              <a:gd name="connsiteY4" fmla="*/ 191746 h 246379"/>
              <a:gd name="connsiteX5" fmla="*/ 27498 w 246379"/>
              <a:gd name="connsiteY5" fmla="*/ 191746 h 246379"/>
              <a:gd name="connsiteX6" fmla="*/ 115 w 246379"/>
              <a:gd name="connsiteY6" fmla="*/ 164362 h 246379"/>
              <a:gd name="connsiteX7" fmla="*/ 115 w 246379"/>
              <a:gd name="connsiteY7" fmla="*/ 27498 h 246379"/>
              <a:gd name="connsiteX8" fmla="*/ 27498 w 246379"/>
              <a:gd name="connsiteY8" fmla="*/ 115 h 246379"/>
              <a:gd name="connsiteX9" fmla="*/ 13807 w 246379"/>
              <a:gd name="connsiteY9" fmla="*/ 219112 h 246379"/>
              <a:gd name="connsiteX10" fmla="*/ 232803 w 246379"/>
              <a:gd name="connsiteY10" fmla="*/ 219112 h 246379"/>
              <a:gd name="connsiteX11" fmla="*/ 246495 w 246379"/>
              <a:gd name="connsiteY11" fmla="*/ 232803 h 246379"/>
              <a:gd name="connsiteX12" fmla="*/ 232803 w 246379"/>
              <a:gd name="connsiteY12" fmla="*/ 246495 h 246379"/>
              <a:gd name="connsiteX13" fmla="*/ 13807 w 246379"/>
              <a:gd name="connsiteY13" fmla="*/ 246495 h 246379"/>
              <a:gd name="connsiteX14" fmla="*/ 115 w 246379"/>
              <a:gd name="connsiteY14" fmla="*/ 232803 h 246379"/>
              <a:gd name="connsiteX15" fmla="*/ 13807 w 246379"/>
              <a:gd name="connsiteY15" fmla="*/ 219112 h 246379"/>
              <a:gd name="connsiteX16" fmla="*/ 123305 w 246379"/>
              <a:gd name="connsiteY16" fmla="*/ 95922 h 246379"/>
              <a:gd name="connsiteX17" fmla="*/ 109613 w 246379"/>
              <a:gd name="connsiteY17" fmla="*/ 109613 h 246379"/>
              <a:gd name="connsiteX18" fmla="*/ 109613 w 246379"/>
              <a:gd name="connsiteY18" fmla="*/ 123305 h 246379"/>
              <a:gd name="connsiteX19" fmla="*/ 123305 w 246379"/>
              <a:gd name="connsiteY19" fmla="*/ 136997 h 246379"/>
              <a:gd name="connsiteX20" fmla="*/ 136997 w 246379"/>
              <a:gd name="connsiteY20" fmla="*/ 123305 h 246379"/>
              <a:gd name="connsiteX21" fmla="*/ 136997 w 246379"/>
              <a:gd name="connsiteY21" fmla="*/ 109613 h 246379"/>
              <a:gd name="connsiteX22" fmla="*/ 123305 w 246379"/>
              <a:gd name="connsiteY22" fmla="*/ 95922 h 246379"/>
              <a:gd name="connsiteX23" fmla="*/ 178054 w 246379"/>
              <a:gd name="connsiteY23" fmla="*/ 82248 h 246379"/>
              <a:gd name="connsiteX24" fmla="*/ 164362 w 246379"/>
              <a:gd name="connsiteY24" fmla="*/ 95922 h 246379"/>
              <a:gd name="connsiteX25" fmla="*/ 164362 w 246379"/>
              <a:gd name="connsiteY25" fmla="*/ 123305 h 246379"/>
              <a:gd name="connsiteX26" fmla="*/ 178054 w 246379"/>
              <a:gd name="connsiteY26" fmla="*/ 136995 h 246379"/>
              <a:gd name="connsiteX27" fmla="*/ 191746 w 246379"/>
              <a:gd name="connsiteY27" fmla="*/ 123305 h 246379"/>
              <a:gd name="connsiteX28" fmla="*/ 191746 w 246379"/>
              <a:gd name="connsiteY28" fmla="*/ 95922 h 246379"/>
              <a:gd name="connsiteX29" fmla="*/ 178054 w 246379"/>
              <a:gd name="connsiteY29" fmla="*/ 82248 h 246379"/>
              <a:gd name="connsiteX30" fmla="*/ 68573 w 246379"/>
              <a:gd name="connsiteY30" fmla="*/ 54846 h 246379"/>
              <a:gd name="connsiteX31" fmla="*/ 68538 w 246379"/>
              <a:gd name="connsiteY31" fmla="*/ 54864 h 246379"/>
              <a:gd name="connsiteX32" fmla="*/ 54846 w 246379"/>
              <a:gd name="connsiteY32" fmla="*/ 68556 h 246379"/>
              <a:gd name="connsiteX33" fmla="*/ 54846 w 246379"/>
              <a:gd name="connsiteY33" fmla="*/ 123305 h 246379"/>
              <a:gd name="connsiteX34" fmla="*/ 68556 w 246379"/>
              <a:gd name="connsiteY34" fmla="*/ 137014 h 246379"/>
              <a:gd name="connsiteX35" fmla="*/ 82265 w 246379"/>
              <a:gd name="connsiteY35" fmla="*/ 123305 h 246379"/>
              <a:gd name="connsiteX36" fmla="*/ 82265 w 246379"/>
              <a:gd name="connsiteY36" fmla="*/ 68538 h 246379"/>
              <a:gd name="connsiteX37" fmla="*/ 68573 w 246379"/>
              <a:gd name="connsiteY37" fmla="*/ 54846 h 246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46379" h="246379">
                <a:moveTo>
                  <a:pt x="27498" y="115"/>
                </a:moveTo>
                <a:lnTo>
                  <a:pt x="219112" y="115"/>
                </a:lnTo>
                <a:cubicBezTo>
                  <a:pt x="234246" y="115"/>
                  <a:pt x="246495" y="12364"/>
                  <a:pt x="246495" y="27498"/>
                </a:cubicBezTo>
                <a:lnTo>
                  <a:pt x="246495" y="164362"/>
                </a:lnTo>
                <a:cubicBezTo>
                  <a:pt x="246495" y="179498"/>
                  <a:pt x="234246" y="191746"/>
                  <a:pt x="219112" y="191746"/>
                </a:cubicBezTo>
                <a:lnTo>
                  <a:pt x="27498" y="191746"/>
                </a:lnTo>
                <a:cubicBezTo>
                  <a:pt x="12364" y="191746"/>
                  <a:pt x="115" y="179480"/>
                  <a:pt x="115" y="164362"/>
                </a:cubicBezTo>
                <a:lnTo>
                  <a:pt x="115" y="27498"/>
                </a:lnTo>
                <a:cubicBezTo>
                  <a:pt x="115" y="12364"/>
                  <a:pt x="12364" y="115"/>
                  <a:pt x="27498" y="115"/>
                </a:cubicBezTo>
                <a:moveTo>
                  <a:pt x="13807" y="219112"/>
                </a:moveTo>
                <a:lnTo>
                  <a:pt x="232803" y="219112"/>
                </a:lnTo>
                <a:cubicBezTo>
                  <a:pt x="240365" y="219112"/>
                  <a:pt x="246495" y="225242"/>
                  <a:pt x="246495" y="232803"/>
                </a:cubicBezTo>
                <a:cubicBezTo>
                  <a:pt x="246495" y="240365"/>
                  <a:pt x="240365" y="246495"/>
                  <a:pt x="232803" y="246495"/>
                </a:cubicBezTo>
                <a:lnTo>
                  <a:pt x="13807" y="246495"/>
                </a:lnTo>
                <a:cubicBezTo>
                  <a:pt x="6245" y="246495"/>
                  <a:pt x="115" y="240365"/>
                  <a:pt x="115" y="232803"/>
                </a:cubicBezTo>
                <a:cubicBezTo>
                  <a:pt x="115" y="225242"/>
                  <a:pt x="6245" y="219112"/>
                  <a:pt x="13807" y="219112"/>
                </a:cubicBezTo>
                <a:moveTo>
                  <a:pt x="123305" y="95922"/>
                </a:moveTo>
                <a:cubicBezTo>
                  <a:pt x="115737" y="95922"/>
                  <a:pt x="109613" y="102046"/>
                  <a:pt x="109613" y="109613"/>
                </a:cubicBezTo>
                <a:lnTo>
                  <a:pt x="109613" y="123305"/>
                </a:lnTo>
                <a:cubicBezTo>
                  <a:pt x="109613" y="130867"/>
                  <a:pt x="115743" y="136997"/>
                  <a:pt x="123305" y="136997"/>
                </a:cubicBezTo>
                <a:cubicBezTo>
                  <a:pt x="130867" y="136997"/>
                  <a:pt x="136997" y="130867"/>
                  <a:pt x="136997" y="123305"/>
                </a:cubicBezTo>
                <a:lnTo>
                  <a:pt x="136997" y="109613"/>
                </a:lnTo>
                <a:cubicBezTo>
                  <a:pt x="136997" y="102063"/>
                  <a:pt x="130873" y="95922"/>
                  <a:pt x="123305" y="95922"/>
                </a:cubicBezTo>
                <a:moveTo>
                  <a:pt x="178054" y="82248"/>
                </a:moveTo>
                <a:cubicBezTo>
                  <a:pt x="170505" y="82248"/>
                  <a:pt x="164362" y="88354"/>
                  <a:pt x="164362" y="95922"/>
                </a:cubicBezTo>
                <a:lnTo>
                  <a:pt x="164362" y="123305"/>
                </a:lnTo>
                <a:cubicBezTo>
                  <a:pt x="164363" y="130866"/>
                  <a:pt x="170493" y="136995"/>
                  <a:pt x="178054" y="136995"/>
                </a:cubicBezTo>
                <a:cubicBezTo>
                  <a:pt x="185615" y="136995"/>
                  <a:pt x="191745" y="130866"/>
                  <a:pt x="191746" y="123305"/>
                </a:cubicBezTo>
                <a:lnTo>
                  <a:pt x="191746" y="95922"/>
                </a:lnTo>
                <a:cubicBezTo>
                  <a:pt x="191746" y="88372"/>
                  <a:pt x="185621" y="82248"/>
                  <a:pt x="178054" y="82248"/>
                </a:cubicBezTo>
                <a:moveTo>
                  <a:pt x="68573" y="54846"/>
                </a:moveTo>
                <a:lnTo>
                  <a:pt x="68538" y="54864"/>
                </a:lnTo>
                <a:cubicBezTo>
                  <a:pt x="60971" y="54864"/>
                  <a:pt x="54846" y="60988"/>
                  <a:pt x="54846" y="68556"/>
                </a:cubicBezTo>
                <a:lnTo>
                  <a:pt x="54846" y="123305"/>
                </a:lnTo>
                <a:cubicBezTo>
                  <a:pt x="54846" y="130876"/>
                  <a:pt x="60984" y="137014"/>
                  <a:pt x="68556" y="137014"/>
                </a:cubicBezTo>
                <a:cubicBezTo>
                  <a:pt x="76127" y="137014"/>
                  <a:pt x="82265" y="130876"/>
                  <a:pt x="82265" y="123305"/>
                </a:cubicBezTo>
                <a:lnTo>
                  <a:pt x="82265" y="68538"/>
                </a:lnTo>
                <a:cubicBezTo>
                  <a:pt x="82265" y="60971"/>
                  <a:pt x="76141" y="54846"/>
                  <a:pt x="68573" y="54846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1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540">
              <a:solidFill>
                <a:schemeClr val="tx1"/>
              </a:solidFill>
            </a:endParaRPr>
          </a:p>
        </p:txBody>
      </p:sp>
      <p:sp>
        <p:nvSpPr>
          <p:cNvPr id="29" name="图片 4" descr="343439383331313b343532303034303bcffacadbb9dcc0ed"/>
          <p:cNvSpPr/>
          <p:nvPr>
            <p:custDataLst>
              <p:tags r:id="rId17"/>
            </p:custDataLst>
          </p:nvPr>
        </p:nvSpPr>
        <p:spPr>
          <a:xfrm>
            <a:off x="3564180" y="3593329"/>
            <a:ext cx="210918" cy="210918"/>
          </a:xfrm>
          <a:custGeom>
            <a:avLst/>
            <a:gdLst>
              <a:gd name="connsiteX0" fmla="*/ 27498 w 246379"/>
              <a:gd name="connsiteY0" fmla="*/ 115 h 246379"/>
              <a:gd name="connsiteX1" fmla="*/ 219112 w 246379"/>
              <a:gd name="connsiteY1" fmla="*/ 115 h 246379"/>
              <a:gd name="connsiteX2" fmla="*/ 246495 w 246379"/>
              <a:gd name="connsiteY2" fmla="*/ 27498 h 246379"/>
              <a:gd name="connsiteX3" fmla="*/ 246495 w 246379"/>
              <a:gd name="connsiteY3" fmla="*/ 164362 h 246379"/>
              <a:gd name="connsiteX4" fmla="*/ 219112 w 246379"/>
              <a:gd name="connsiteY4" fmla="*/ 191746 h 246379"/>
              <a:gd name="connsiteX5" fmla="*/ 27498 w 246379"/>
              <a:gd name="connsiteY5" fmla="*/ 191746 h 246379"/>
              <a:gd name="connsiteX6" fmla="*/ 115 w 246379"/>
              <a:gd name="connsiteY6" fmla="*/ 164362 h 246379"/>
              <a:gd name="connsiteX7" fmla="*/ 115 w 246379"/>
              <a:gd name="connsiteY7" fmla="*/ 27498 h 246379"/>
              <a:gd name="connsiteX8" fmla="*/ 27498 w 246379"/>
              <a:gd name="connsiteY8" fmla="*/ 115 h 246379"/>
              <a:gd name="connsiteX9" fmla="*/ 13807 w 246379"/>
              <a:gd name="connsiteY9" fmla="*/ 219112 h 246379"/>
              <a:gd name="connsiteX10" fmla="*/ 232803 w 246379"/>
              <a:gd name="connsiteY10" fmla="*/ 219112 h 246379"/>
              <a:gd name="connsiteX11" fmla="*/ 246495 w 246379"/>
              <a:gd name="connsiteY11" fmla="*/ 232803 h 246379"/>
              <a:gd name="connsiteX12" fmla="*/ 232803 w 246379"/>
              <a:gd name="connsiteY12" fmla="*/ 246495 h 246379"/>
              <a:gd name="connsiteX13" fmla="*/ 13807 w 246379"/>
              <a:gd name="connsiteY13" fmla="*/ 246495 h 246379"/>
              <a:gd name="connsiteX14" fmla="*/ 115 w 246379"/>
              <a:gd name="connsiteY14" fmla="*/ 232803 h 246379"/>
              <a:gd name="connsiteX15" fmla="*/ 13807 w 246379"/>
              <a:gd name="connsiteY15" fmla="*/ 219112 h 246379"/>
              <a:gd name="connsiteX16" fmla="*/ 123305 w 246379"/>
              <a:gd name="connsiteY16" fmla="*/ 95922 h 246379"/>
              <a:gd name="connsiteX17" fmla="*/ 109613 w 246379"/>
              <a:gd name="connsiteY17" fmla="*/ 109613 h 246379"/>
              <a:gd name="connsiteX18" fmla="*/ 109613 w 246379"/>
              <a:gd name="connsiteY18" fmla="*/ 123305 h 246379"/>
              <a:gd name="connsiteX19" fmla="*/ 123305 w 246379"/>
              <a:gd name="connsiteY19" fmla="*/ 136997 h 246379"/>
              <a:gd name="connsiteX20" fmla="*/ 136997 w 246379"/>
              <a:gd name="connsiteY20" fmla="*/ 123305 h 246379"/>
              <a:gd name="connsiteX21" fmla="*/ 136997 w 246379"/>
              <a:gd name="connsiteY21" fmla="*/ 109613 h 246379"/>
              <a:gd name="connsiteX22" fmla="*/ 123305 w 246379"/>
              <a:gd name="connsiteY22" fmla="*/ 95922 h 246379"/>
              <a:gd name="connsiteX23" fmla="*/ 178054 w 246379"/>
              <a:gd name="connsiteY23" fmla="*/ 82248 h 246379"/>
              <a:gd name="connsiteX24" fmla="*/ 164362 w 246379"/>
              <a:gd name="connsiteY24" fmla="*/ 95922 h 246379"/>
              <a:gd name="connsiteX25" fmla="*/ 164362 w 246379"/>
              <a:gd name="connsiteY25" fmla="*/ 123305 h 246379"/>
              <a:gd name="connsiteX26" fmla="*/ 178054 w 246379"/>
              <a:gd name="connsiteY26" fmla="*/ 136995 h 246379"/>
              <a:gd name="connsiteX27" fmla="*/ 191746 w 246379"/>
              <a:gd name="connsiteY27" fmla="*/ 123305 h 246379"/>
              <a:gd name="connsiteX28" fmla="*/ 191746 w 246379"/>
              <a:gd name="connsiteY28" fmla="*/ 95922 h 246379"/>
              <a:gd name="connsiteX29" fmla="*/ 178054 w 246379"/>
              <a:gd name="connsiteY29" fmla="*/ 82248 h 246379"/>
              <a:gd name="connsiteX30" fmla="*/ 68573 w 246379"/>
              <a:gd name="connsiteY30" fmla="*/ 54846 h 246379"/>
              <a:gd name="connsiteX31" fmla="*/ 68538 w 246379"/>
              <a:gd name="connsiteY31" fmla="*/ 54864 h 246379"/>
              <a:gd name="connsiteX32" fmla="*/ 54846 w 246379"/>
              <a:gd name="connsiteY32" fmla="*/ 68556 h 246379"/>
              <a:gd name="connsiteX33" fmla="*/ 54846 w 246379"/>
              <a:gd name="connsiteY33" fmla="*/ 123305 h 246379"/>
              <a:gd name="connsiteX34" fmla="*/ 68556 w 246379"/>
              <a:gd name="connsiteY34" fmla="*/ 137014 h 246379"/>
              <a:gd name="connsiteX35" fmla="*/ 82265 w 246379"/>
              <a:gd name="connsiteY35" fmla="*/ 123305 h 246379"/>
              <a:gd name="connsiteX36" fmla="*/ 82265 w 246379"/>
              <a:gd name="connsiteY36" fmla="*/ 68538 h 246379"/>
              <a:gd name="connsiteX37" fmla="*/ 68573 w 246379"/>
              <a:gd name="connsiteY37" fmla="*/ 54846 h 246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46379" h="246379">
                <a:moveTo>
                  <a:pt x="27498" y="115"/>
                </a:moveTo>
                <a:lnTo>
                  <a:pt x="219112" y="115"/>
                </a:lnTo>
                <a:cubicBezTo>
                  <a:pt x="234246" y="115"/>
                  <a:pt x="246495" y="12364"/>
                  <a:pt x="246495" y="27498"/>
                </a:cubicBezTo>
                <a:lnTo>
                  <a:pt x="246495" y="164362"/>
                </a:lnTo>
                <a:cubicBezTo>
                  <a:pt x="246495" y="179498"/>
                  <a:pt x="234246" y="191746"/>
                  <a:pt x="219112" y="191746"/>
                </a:cubicBezTo>
                <a:lnTo>
                  <a:pt x="27498" y="191746"/>
                </a:lnTo>
                <a:cubicBezTo>
                  <a:pt x="12364" y="191746"/>
                  <a:pt x="115" y="179480"/>
                  <a:pt x="115" y="164362"/>
                </a:cubicBezTo>
                <a:lnTo>
                  <a:pt x="115" y="27498"/>
                </a:lnTo>
                <a:cubicBezTo>
                  <a:pt x="115" y="12364"/>
                  <a:pt x="12364" y="115"/>
                  <a:pt x="27498" y="115"/>
                </a:cubicBezTo>
                <a:moveTo>
                  <a:pt x="13807" y="219112"/>
                </a:moveTo>
                <a:lnTo>
                  <a:pt x="232803" y="219112"/>
                </a:lnTo>
                <a:cubicBezTo>
                  <a:pt x="240365" y="219112"/>
                  <a:pt x="246495" y="225242"/>
                  <a:pt x="246495" y="232803"/>
                </a:cubicBezTo>
                <a:cubicBezTo>
                  <a:pt x="246495" y="240365"/>
                  <a:pt x="240365" y="246495"/>
                  <a:pt x="232803" y="246495"/>
                </a:cubicBezTo>
                <a:lnTo>
                  <a:pt x="13807" y="246495"/>
                </a:lnTo>
                <a:cubicBezTo>
                  <a:pt x="6245" y="246495"/>
                  <a:pt x="115" y="240365"/>
                  <a:pt x="115" y="232803"/>
                </a:cubicBezTo>
                <a:cubicBezTo>
                  <a:pt x="115" y="225242"/>
                  <a:pt x="6245" y="219112"/>
                  <a:pt x="13807" y="219112"/>
                </a:cubicBezTo>
                <a:moveTo>
                  <a:pt x="123305" y="95922"/>
                </a:moveTo>
                <a:cubicBezTo>
                  <a:pt x="115737" y="95922"/>
                  <a:pt x="109613" y="102046"/>
                  <a:pt x="109613" y="109613"/>
                </a:cubicBezTo>
                <a:lnTo>
                  <a:pt x="109613" y="123305"/>
                </a:lnTo>
                <a:cubicBezTo>
                  <a:pt x="109613" y="130867"/>
                  <a:pt x="115743" y="136997"/>
                  <a:pt x="123305" y="136997"/>
                </a:cubicBezTo>
                <a:cubicBezTo>
                  <a:pt x="130867" y="136997"/>
                  <a:pt x="136997" y="130867"/>
                  <a:pt x="136997" y="123305"/>
                </a:cubicBezTo>
                <a:lnTo>
                  <a:pt x="136997" y="109613"/>
                </a:lnTo>
                <a:cubicBezTo>
                  <a:pt x="136997" y="102063"/>
                  <a:pt x="130873" y="95922"/>
                  <a:pt x="123305" y="95922"/>
                </a:cubicBezTo>
                <a:moveTo>
                  <a:pt x="178054" y="82248"/>
                </a:moveTo>
                <a:cubicBezTo>
                  <a:pt x="170505" y="82248"/>
                  <a:pt x="164362" y="88354"/>
                  <a:pt x="164362" y="95922"/>
                </a:cubicBezTo>
                <a:lnTo>
                  <a:pt x="164362" y="123305"/>
                </a:lnTo>
                <a:cubicBezTo>
                  <a:pt x="164363" y="130866"/>
                  <a:pt x="170493" y="136995"/>
                  <a:pt x="178054" y="136995"/>
                </a:cubicBezTo>
                <a:cubicBezTo>
                  <a:pt x="185615" y="136995"/>
                  <a:pt x="191745" y="130866"/>
                  <a:pt x="191746" y="123305"/>
                </a:cubicBezTo>
                <a:lnTo>
                  <a:pt x="191746" y="95922"/>
                </a:lnTo>
                <a:cubicBezTo>
                  <a:pt x="191746" y="88372"/>
                  <a:pt x="185621" y="82248"/>
                  <a:pt x="178054" y="82248"/>
                </a:cubicBezTo>
                <a:moveTo>
                  <a:pt x="68573" y="54846"/>
                </a:moveTo>
                <a:lnTo>
                  <a:pt x="68538" y="54864"/>
                </a:lnTo>
                <a:cubicBezTo>
                  <a:pt x="60971" y="54864"/>
                  <a:pt x="54846" y="60988"/>
                  <a:pt x="54846" y="68556"/>
                </a:cubicBezTo>
                <a:lnTo>
                  <a:pt x="54846" y="123305"/>
                </a:lnTo>
                <a:cubicBezTo>
                  <a:pt x="54846" y="130876"/>
                  <a:pt x="60984" y="137014"/>
                  <a:pt x="68556" y="137014"/>
                </a:cubicBezTo>
                <a:cubicBezTo>
                  <a:pt x="76127" y="137014"/>
                  <a:pt x="82265" y="130876"/>
                  <a:pt x="82265" y="123305"/>
                </a:cubicBezTo>
                <a:lnTo>
                  <a:pt x="82265" y="68538"/>
                </a:lnTo>
                <a:cubicBezTo>
                  <a:pt x="82265" y="60971"/>
                  <a:pt x="76141" y="54846"/>
                  <a:pt x="68573" y="54846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1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540">
              <a:solidFill>
                <a:schemeClr val="tx1"/>
              </a:solidFill>
            </a:endParaRPr>
          </a:p>
        </p:txBody>
      </p:sp>
      <p:sp>
        <p:nvSpPr>
          <p:cNvPr id="30" name="图片 4" descr="343439383331313b343532303034303bcffacadbb9dcc0ed"/>
          <p:cNvSpPr/>
          <p:nvPr>
            <p:custDataLst>
              <p:tags r:id="rId18"/>
            </p:custDataLst>
          </p:nvPr>
        </p:nvSpPr>
        <p:spPr>
          <a:xfrm>
            <a:off x="5292015" y="3723504"/>
            <a:ext cx="210918" cy="210918"/>
          </a:xfrm>
          <a:custGeom>
            <a:avLst/>
            <a:gdLst>
              <a:gd name="connsiteX0" fmla="*/ 27498 w 246379"/>
              <a:gd name="connsiteY0" fmla="*/ 115 h 246379"/>
              <a:gd name="connsiteX1" fmla="*/ 219112 w 246379"/>
              <a:gd name="connsiteY1" fmla="*/ 115 h 246379"/>
              <a:gd name="connsiteX2" fmla="*/ 246495 w 246379"/>
              <a:gd name="connsiteY2" fmla="*/ 27498 h 246379"/>
              <a:gd name="connsiteX3" fmla="*/ 246495 w 246379"/>
              <a:gd name="connsiteY3" fmla="*/ 164362 h 246379"/>
              <a:gd name="connsiteX4" fmla="*/ 219112 w 246379"/>
              <a:gd name="connsiteY4" fmla="*/ 191746 h 246379"/>
              <a:gd name="connsiteX5" fmla="*/ 27498 w 246379"/>
              <a:gd name="connsiteY5" fmla="*/ 191746 h 246379"/>
              <a:gd name="connsiteX6" fmla="*/ 115 w 246379"/>
              <a:gd name="connsiteY6" fmla="*/ 164362 h 246379"/>
              <a:gd name="connsiteX7" fmla="*/ 115 w 246379"/>
              <a:gd name="connsiteY7" fmla="*/ 27498 h 246379"/>
              <a:gd name="connsiteX8" fmla="*/ 27498 w 246379"/>
              <a:gd name="connsiteY8" fmla="*/ 115 h 246379"/>
              <a:gd name="connsiteX9" fmla="*/ 13807 w 246379"/>
              <a:gd name="connsiteY9" fmla="*/ 219112 h 246379"/>
              <a:gd name="connsiteX10" fmla="*/ 232803 w 246379"/>
              <a:gd name="connsiteY10" fmla="*/ 219112 h 246379"/>
              <a:gd name="connsiteX11" fmla="*/ 246495 w 246379"/>
              <a:gd name="connsiteY11" fmla="*/ 232803 h 246379"/>
              <a:gd name="connsiteX12" fmla="*/ 232803 w 246379"/>
              <a:gd name="connsiteY12" fmla="*/ 246495 h 246379"/>
              <a:gd name="connsiteX13" fmla="*/ 13807 w 246379"/>
              <a:gd name="connsiteY13" fmla="*/ 246495 h 246379"/>
              <a:gd name="connsiteX14" fmla="*/ 115 w 246379"/>
              <a:gd name="connsiteY14" fmla="*/ 232803 h 246379"/>
              <a:gd name="connsiteX15" fmla="*/ 13807 w 246379"/>
              <a:gd name="connsiteY15" fmla="*/ 219112 h 246379"/>
              <a:gd name="connsiteX16" fmla="*/ 123305 w 246379"/>
              <a:gd name="connsiteY16" fmla="*/ 95922 h 246379"/>
              <a:gd name="connsiteX17" fmla="*/ 109613 w 246379"/>
              <a:gd name="connsiteY17" fmla="*/ 109613 h 246379"/>
              <a:gd name="connsiteX18" fmla="*/ 109613 w 246379"/>
              <a:gd name="connsiteY18" fmla="*/ 123305 h 246379"/>
              <a:gd name="connsiteX19" fmla="*/ 123305 w 246379"/>
              <a:gd name="connsiteY19" fmla="*/ 136997 h 246379"/>
              <a:gd name="connsiteX20" fmla="*/ 136997 w 246379"/>
              <a:gd name="connsiteY20" fmla="*/ 123305 h 246379"/>
              <a:gd name="connsiteX21" fmla="*/ 136997 w 246379"/>
              <a:gd name="connsiteY21" fmla="*/ 109613 h 246379"/>
              <a:gd name="connsiteX22" fmla="*/ 123305 w 246379"/>
              <a:gd name="connsiteY22" fmla="*/ 95922 h 246379"/>
              <a:gd name="connsiteX23" fmla="*/ 178054 w 246379"/>
              <a:gd name="connsiteY23" fmla="*/ 82248 h 246379"/>
              <a:gd name="connsiteX24" fmla="*/ 164362 w 246379"/>
              <a:gd name="connsiteY24" fmla="*/ 95922 h 246379"/>
              <a:gd name="connsiteX25" fmla="*/ 164362 w 246379"/>
              <a:gd name="connsiteY25" fmla="*/ 123305 h 246379"/>
              <a:gd name="connsiteX26" fmla="*/ 178054 w 246379"/>
              <a:gd name="connsiteY26" fmla="*/ 136995 h 246379"/>
              <a:gd name="connsiteX27" fmla="*/ 191746 w 246379"/>
              <a:gd name="connsiteY27" fmla="*/ 123305 h 246379"/>
              <a:gd name="connsiteX28" fmla="*/ 191746 w 246379"/>
              <a:gd name="connsiteY28" fmla="*/ 95922 h 246379"/>
              <a:gd name="connsiteX29" fmla="*/ 178054 w 246379"/>
              <a:gd name="connsiteY29" fmla="*/ 82248 h 246379"/>
              <a:gd name="connsiteX30" fmla="*/ 68573 w 246379"/>
              <a:gd name="connsiteY30" fmla="*/ 54846 h 246379"/>
              <a:gd name="connsiteX31" fmla="*/ 68538 w 246379"/>
              <a:gd name="connsiteY31" fmla="*/ 54864 h 246379"/>
              <a:gd name="connsiteX32" fmla="*/ 54846 w 246379"/>
              <a:gd name="connsiteY32" fmla="*/ 68556 h 246379"/>
              <a:gd name="connsiteX33" fmla="*/ 54846 w 246379"/>
              <a:gd name="connsiteY33" fmla="*/ 123305 h 246379"/>
              <a:gd name="connsiteX34" fmla="*/ 68556 w 246379"/>
              <a:gd name="connsiteY34" fmla="*/ 137014 h 246379"/>
              <a:gd name="connsiteX35" fmla="*/ 82265 w 246379"/>
              <a:gd name="connsiteY35" fmla="*/ 123305 h 246379"/>
              <a:gd name="connsiteX36" fmla="*/ 82265 w 246379"/>
              <a:gd name="connsiteY36" fmla="*/ 68538 h 246379"/>
              <a:gd name="connsiteX37" fmla="*/ 68573 w 246379"/>
              <a:gd name="connsiteY37" fmla="*/ 54846 h 246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46379" h="246379">
                <a:moveTo>
                  <a:pt x="27498" y="115"/>
                </a:moveTo>
                <a:lnTo>
                  <a:pt x="219112" y="115"/>
                </a:lnTo>
                <a:cubicBezTo>
                  <a:pt x="234246" y="115"/>
                  <a:pt x="246495" y="12364"/>
                  <a:pt x="246495" y="27498"/>
                </a:cubicBezTo>
                <a:lnTo>
                  <a:pt x="246495" y="164362"/>
                </a:lnTo>
                <a:cubicBezTo>
                  <a:pt x="246495" y="179498"/>
                  <a:pt x="234246" y="191746"/>
                  <a:pt x="219112" y="191746"/>
                </a:cubicBezTo>
                <a:lnTo>
                  <a:pt x="27498" y="191746"/>
                </a:lnTo>
                <a:cubicBezTo>
                  <a:pt x="12364" y="191746"/>
                  <a:pt x="115" y="179480"/>
                  <a:pt x="115" y="164362"/>
                </a:cubicBezTo>
                <a:lnTo>
                  <a:pt x="115" y="27498"/>
                </a:lnTo>
                <a:cubicBezTo>
                  <a:pt x="115" y="12364"/>
                  <a:pt x="12364" y="115"/>
                  <a:pt x="27498" y="115"/>
                </a:cubicBezTo>
                <a:moveTo>
                  <a:pt x="13807" y="219112"/>
                </a:moveTo>
                <a:lnTo>
                  <a:pt x="232803" y="219112"/>
                </a:lnTo>
                <a:cubicBezTo>
                  <a:pt x="240365" y="219112"/>
                  <a:pt x="246495" y="225242"/>
                  <a:pt x="246495" y="232803"/>
                </a:cubicBezTo>
                <a:cubicBezTo>
                  <a:pt x="246495" y="240365"/>
                  <a:pt x="240365" y="246495"/>
                  <a:pt x="232803" y="246495"/>
                </a:cubicBezTo>
                <a:lnTo>
                  <a:pt x="13807" y="246495"/>
                </a:lnTo>
                <a:cubicBezTo>
                  <a:pt x="6245" y="246495"/>
                  <a:pt x="115" y="240365"/>
                  <a:pt x="115" y="232803"/>
                </a:cubicBezTo>
                <a:cubicBezTo>
                  <a:pt x="115" y="225242"/>
                  <a:pt x="6245" y="219112"/>
                  <a:pt x="13807" y="219112"/>
                </a:cubicBezTo>
                <a:moveTo>
                  <a:pt x="123305" y="95922"/>
                </a:moveTo>
                <a:cubicBezTo>
                  <a:pt x="115737" y="95922"/>
                  <a:pt x="109613" y="102046"/>
                  <a:pt x="109613" y="109613"/>
                </a:cubicBezTo>
                <a:lnTo>
                  <a:pt x="109613" y="123305"/>
                </a:lnTo>
                <a:cubicBezTo>
                  <a:pt x="109613" y="130867"/>
                  <a:pt x="115743" y="136997"/>
                  <a:pt x="123305" y="136997"/>
                </a:cubicBezTo>
                <a:cubicBezTo>
                  <a:pt x="130867" y="136997"/>
                  <a:pt x="136997" y="130867"/>
                  <a:pt x="136997" y="123305"/>
                </a:cubicBezTo>
                <a:lnTo>
                  <a:pt x="136997" y="109613"/>
                </a:lnTo>
                <a:cubicBezTo>
                  <a:pt x="136997" y="102063"/>
                  <a:pt x="130873" y="95922"/>
                  <a:pt x="123305" y="95922"/>
                </a:cubicBezTo>
                <a:moveTo>
                  <a:pt x="178054" y="82248"/>
                </a:moveTo>
                <a:cubicBezTo>
                  <a:pt x="170505" y="82248"/>
                  <a:pt x="164362" y="88354"/>
                  <a:pt x="164362" y="95922"/>
                </a:cubicBezTo>
                <a:lnTo>
                  <a:pt x="164362" y="123305"/>
                </a:lnTo>
                <a:cubicBezTo>
                  <a:pt x="164363" y="130866"/>
                  <a:pt x="170493" y="136995"/>
                  <a:pt x="178054" y="136995"/>
                </a:cubicBezTo>
                <a:cubicBezTo>
                  <a:pt x="185615" y="136995"/>
                  <a:pt x="191745" y="130866"/>
                  <a:pt x="191746" y="123305"/>
                </a:cubicBezTo>
                <a:lnTo>
                  <a:pt x="191746" y="95922"/>
                </a:lnTo>
                <a:cubicBezTo>
                  <a:pt x="191746" y="88372"/>
                  <a:pt x="185621" y="82248"/>
                  <a:pt x="178054" y="82248"/>
                </a:cubicBezTo>
                <a:moveTo>
                  <a:pt x="68573" y="54846"/>
                </a:moveTo>
                <a:lnTo>
                  <a:pt x="68538" y="54864"/>
                </a:lnTo>
                <a:cubicBezTo>
                  <a:pt x="60971" y="54864"/>
                  <a:pt x="54846" y="60988"/>
                  <a:pt x="54846" y="68556"/>
                </a:cubicBezTo>
                <a:lnTo>
                  <a:pt x="54846" y="123305"/>
                </a:lnTo>
                <a:cubicBezTo>
                  <a:pt x="54846" y="130876"/>
                  <a:pt x="60984" y="137014"/>
                  <a:pt x="68556" y="137014"/>
                </a:cubicBezTo>
                <a:cubicBezTo>
                  <a:pt x="76127" y="137014"/>
                  <a:pt x="82265" y="130876"/>
                  <a:pt x="82265" y="123305"/>
                </a:cubicBezTo>
                <a:lnTo>
                  <a:pt x="82265" y="68538"/>
                </a:lnTo>
                <a:cubicBezTo>
                  <a:pt x="82265" y="60971"/>
                  <a:pt x="76141" y="54846"/>
                  <a:pt x="68573" y="54846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1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54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/>
          <p:nvPr/>
        </p:nvSpPr>
        <p:spPr>
          <a:xfrm rot="5400000">
            <a:off x="4051300" y="-4049395"/>
            <a:ext cx="1056005" cy="91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title" idx="2"/>
          </p:nvPr>
        </p:nvSpPr>
        <p:spPr>
          <a:xfrm>
            <a:off x="255270" y="243205"/>
            <a:ext cx="8617585" cy="572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Design Patterns in different programming languages</a:t>
            </a:r>
          </a:p>
        </p:txBody>
      </p:sp>
      <p:sp>
        <p:nvSpPr>
          <p:cNvPr id="36" name="椭圆"/>
          <p:cNvSpPr/>
          <p:nvPr>
            <p:custDataLst>
              <p:tags r:id="rId1"/>
            </p:custDataLst>
          </p:nvPr>
        </p:nvSpPr>
        <p:spPr>
          <a:xfrm>
            <a:off x="963295" y="1705610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38" name="弧形 85"/>
          <p:cNvSpPr/>
          <p:nvPr>
            <p:custDataLst>
              <p:tags r:id="rId2"/>
            </p:custDataLst>
          </p:nvPr>
        </p:nvSpPr>
        <p:spPr>
          <a:xfrm rot="16200000">
            <a:off x="900430" y="167259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3" name="椭圆"/>
          <p:cNvSpPr/>
          <p:nvPr>
            <p:custDataLst>
              <p:tags r:id="rId3"/>
            </p:custDataLst>
          </p:nvPr>
        </p:nvSpPr>
        <p:spPr>
          <a:xfrm>
            <a:off x="2536190" y="1705610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2" name="弧形 85"/>
          <p:cNvSpPr/>
          <p:nvPr>
            <p:custDataLst>
              <p:tags r:id="rId4"/>
            </p:custDataLst>
          </p:nvPr>
        </p:nvSpPr>
        <p:spPr>
          <a:xfrm rot="16200000">
            <a:off x="2473960" y="167259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8" name="椭圆"/>
          <p:cNvSpPr/>
          <p:nvPr>
            <p:custDataLst>
              <p:tags r:id="rId5"/>
            </p:custDataLst>
          </p:nvPr>
        </p:nvSpPr>
        <p:spPr>
          <a:xfrm>
            <a:off x="4109720" y="1705610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7" name="弧形 85"/>
          <p:cNvSpPr/>
          <p:nvPr>
            <p:custDataLst>
              <p:tags r:id="rId6"/>
            </p:custDataLst>
          </p:nvPr>
        </p:nvSpPr>
        <p:spPr>
          <a:xfrm rot="16200000">
            <a:off x="4046855" y="167259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3" name="椭圆"/>
          <p:cNvSpPr/>
          <p:nvPr>
            <p:custDataLst>
              <p:tags r:id="rId7"/>
            </p:custDataLst>
          </p:nvPr>
        </p:nvSpPr>
        <p:spPr>
          <a:xfrm>
            <a:off x="5683250" y="1705610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2" name="弧形 85"/>
          <p:cNvSpPr/>
          <p:nvPr>
            <p:custDataLst>
              <p:tags r:id="rId8"/>
            </p:custDataLst>
          </p:nvPr>
        </p:nvSpPr>
        <p:spPr>
          <a:xfrm rot="16200000">
            <a:off x="5621020" y="167259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8" name="椭圆"/>
          <p:cNvSpPr/>
          <p:nvPr>
            <p:custDataLst>
              <p:tags r:id="rId9"/>
            </p:custDataLst>
          </p:nvPr>
        </p:nvSpPr>
        <p:spPr>
          <a:xfrm>
            <a:off x="7257415" y="1705610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7" name="弧形 85"/>
          <p:cNvSpPr/>
          <p:nvPr>
            <p:custDataLst>
              <p:tags r:id="rId10"/>
            </p:custDataLst>
          </p:nvPr>
        </p:nvSpPr>
        <p:spPr>
          <a:xfrm rot="16200000">
            <a:off x="7194550" y="167259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01" name="椭圆"/>
          <p:cNvSpPr/>
          <p:nvPr>
            <p:custDataLst>
              <p:tags r:id="rId11"/>
            </p:custDataLst>
          </p:nvPr>
        </p:nvSpPr>
        <p:spPr>
          <a:xfrm>
            <a:off x="963930" y="3311525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03" name="弧形 85"/>
          <p:cNvSpPr/>
          <p:nvPr>
            <p:custDataLst>
              <p:tags r:id="rId12"/>
            </p:custDataLst>
          </p:nvPr>
        </p:nvSpPr>
        <p:spPr>
          <a:xfrm rot="16200000">
            <a:off x="901065" y="327914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04" name="椭圆"/>
          <p:cNvSpPr/>
          <p:nvPr>
            <p:custDataLst>
              <p:tags r:id="rId13"/>
            </p:custDataLst>
          </p:nvPr>
        </p:nvSpPr>
        <p:spPr>
          <a:xfrm>
            <a:off x="2537460" y="3311525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06" name="弧形 85"/>
          <p:cNvSpPr/>
          <p:nvPr>
            <p:custDataLst>
              <p:tags r:id="rId14"/>
            </p:custDataLst>
          </p:nvPr>
        </p:nvSpPr>
        <p:spPr>
          <a:xfrm rot="16200000">
            <a:off x="2475230" y="327914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07" name="椭圆"/>
          <p:cNvSpPr/>
          <p:nvPr>
            <p:custDataLst>
              <p:tags r:id="rId15"/>
            </p:custDataLst>
          </p:nvPr>
        </p:nvSpPr>
        <p:spPr>
          <a:xfrm>
            <a:off x="4110355" y="3311525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09" name="弧形 85"/>
          <p:cNvSpPr/>
          <p:nvPr>
            <p:custDataLst>
              <p:tags r:id="rId16"/>
            </p:custDataLst>
          </p:nvPr>
        </p:nvSpPr>
        <p:spPr>
          <a:xfrm rot="16200000">
            <a:off x="4048125" y="327914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10" name="椭圆"/>
          <p:cNvSpPr/>
          <p:nvPr>
            <p:custDataLst>
              <p:tags r:id="rId17"/>
            </p:custDataLst>
          </p:nvPr>
        </p:nvSpPr>
        <p:spPr>
          <a:xfrm>
            <a:off x="5683885" y="3311525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12" name="弧形 85"/>
          <p:cNvSpPr/>
          <p:nvPr>
            <p:custDataLst>
              <p:tags r:id="rId18"/>
            </p:custDataLst>
          </p:nvPr>
        </p:nvSpPr>
        <p:spPr>
          <a:xfrm rot="16200000">
            <a:off x="5621655" y="327914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13" name="椭圆"/>
          <p:cNvSpPr/>
          <p:nvPr>
            <p:custDataLst>
              <p:tags r:id="rId19"/>
            </p:custDataLst>
          </p:nvPr>
        </p:nvSpPr>
        <p:spPr>
          <a:xfrm>
            <a:off x="7258050" y="3311525"/>
            <a:ext cx="843280" cy="84391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69" tIns="46484" rIns="92969" bIns="46484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15" name="弧形 85"/>
          <p:cNvSpPr/>
          <p:nvPr>
            <p:custDataLst>
              <p:tags r:id="rId20"/>
            </p:custDataLst>
          </p:nvPr>
        </p:nvSpPr>
        <p:spPr>
          <a:xfrm rot="16200000">
            <a:off x="7195185" y="3279140"/>
            <a:ext cx="906145" cy="905510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035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pic>
        <p:nvPicPr>
          <p:cNvPr id="125" name="Picture 12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65530" y="1812925"/>
            <a:ext cx="638810" cy="638810"/>
          </a:xfrm>
          <a:prstGeom prst="rect">
            <a:avLst/>
          </a:prstGeom>
        </p:spPr>
      </p:pic>
      <p:pic>
        <p:nvPicPr>
          <p:cNvPr id="126" name="Picture 12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54300" y="1814195"/>
            <a:ext cx="608330" cy="608330"/>
          </a:xfrm>
          <a:prstGeom prst="rect">
            <a:avLst/>
          </a:prstGeom>
        </p:spPr>
      </p:pic>
      <p:pic>
        <p:nvPicPr>
          <p:cNvPr id="127" name="Picture 12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338955" y="1851660"/>
            <a:ext cx="384810" cy="523240"/>
          </a:xfrm>
          <a:prstGeom prst="rect">
            <a:avLst/>
          </a:prstGeom>
        </p:spPr>
      </p:pic>
      <p:pic>
        <p:nvPicPr>
          <p:cNvPr id="128" name="Picture 12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824855" y="1812925"/>
            <a:ext cx="560705" cy="560705"/>
          </a:xfrm>
          <a:prstGeom prst="rect">
            <a:avLst/>
          </a:prstGeom>
        </p:spPr>
      </p:pic>
      <p:pic>
        <p:nvPicPr>
          <p:cNvPr id="129" name="Picture 12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58380" y="1864995"/>
            <a:ext cx="693420" cy="475615"/>
          </a:xfrm>
          <a:prstGeom prst="rect">
            <a:avLst/>
          </a:prstGeom>
        </p:spPr>
      </p:pic>
      <p:pic>
        <p:nvPicPr>
          <p:cNvPr id="130" name="Picture 12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88085" y="3475990"/>
            <a:ext cx="415925" cy="532130"/>
          </a:xfrm>
          <a:prstGeom prst="rect">
            <a:avLst/>
          </a:prstGeom>
        </p:spPr>
      </p:pic>
      <p:pic>
        <p:nvPicPr>
          <p:cNvPr id="131" name="Picture 13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726690" y="3479165"/>
            <a:ext cx="464185" cy="464185"/>
          </a:xfrm>
          <a:prstGeom prst="rect">
            <a:avLst/>
          </a:prstGeom>
        </p:spPr>
      </p:pic>
      <p:pic>
        <p:nvPicPr>
          <p:cNvPr id="132" name="Picture 13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304030" y="3456940"/>
            <a:ext cx="457200" cy="554990"/>
          </a:xfrm>
          <a:prstGeom prst="rect">
            <a:avLst/>
          </a:prstGeom>
        </p:spPr>
      </p:pic>
      <p:pic>
        <p:nvPicPr>
          <p:cNvPr id="133" name="Picture 13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883910" y="3482340"/>
            <a:ext cx="487045" cy="438150"/>
          </a:xfrm>
          <a:prstGeom prst="rect">
            <a:avLst/>
          </a:prstGeom>
        </p:spPr>
      </p:pic>
      <p:pic>
        <p:nvPicPr>
          <p:cNvPr id="134" name="Picture 13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493000" y="3580130"/>
            <a:ext cx="351790" cy="351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6A69CE02-6D8A-1F56-3158-AC34D03C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>
            <a:extLst>
              <a:ext uri="{FF2B5EF4-FFF2-40B4-BE49-F238E27FC236}">
                <a16:creationId xmlns:a16="http://schemas.microsoft.com/office/drawing/2014/main" id="{3B6E7829-C5C6-4E98-510D-C237CD3B8262}"/>
              </a:ext>
            </a:extLst>
          </p:cNvPr>
          <p:cNvSpPr/>
          <p:nvPr/>
        </p:nvSpPr>
        <p:spPr>
          <a:xfrm rot="5400000">
            <a:off x="4182745" y="-4178300"/>
            <a:ext cx="793115" cy="91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7">
            <a:extLst>
              <a:ext uri="{FF2B5EF4-FFF2-40B4-BE49-F238E27FC236}">
                <a16:creationId xmlns:a16="http://schemas.microsoft.com/office/drawing/2014/main" id="{67F0AC03-DEDA-CADE-2DFA-5936FAD9842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83030" y="113983"/>
            <a:ext cx="6392545" cy="5721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What is Strategy Design Pattern?</a:t>
            </a:r>
          </a:p>
        </p:txBody>
      </p:sp>
      <p:sp>
        <p:nvSpPr>
          <p:cNvPr id="143" name="Rectangle 41732_#color_#shadow_$dk1-788&amp;2007">
            <a:extLst>
              <a:ext uri="{FF2B5EF4-FFF2-40B4-BE49-F238E27FC236}">
                <a16:creationId xmlns:a16="http://schemas.microsoft.com/office/drawing/2014/main" id="{9703E1E7-2B40-B5F5-861C-33CF5AD4AF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1940" y="1109980"/>
            <a:ext cx="8534400" cy="1238885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en-US" sz="161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5" name="矩形 2">
            <a:extLst>
              <a:ext uri="{FF2B5EF4-FFF2-40B4-BE49-F238E27FC236}">
                <a16:creationId xmlns:a16="http://schemas.microsoft.com/office/drawing/2014/main" id="{E1C42E0A-7E4E-3985-8EAB-66E7EC7BFD7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6880" y="1570990"/>
            <a:ext cx="8239760" cy="586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Design Pattern is a behavioral design pattern that allows you to define multiple algorithms (strategies), place each one in a separate class, and switch between them at runtime without changing the main code.</a:t>
            </a:r>
            <a:endParaRPr lang="en-US" altLang="en-US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6" name="矩形 3">
            <a:extLst>
              <a:ext uri="{FF2B5EF4-FFF2-40B4-BE49-F238E27FC236}">
                <a16:creationId xmlns:a16="http://schemas.microsoft.com/office/drawing/2014/main" id="{1B2C2F60-EDBF-F68E-ED58-7D7C75173AD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6880" y="1228090"/>
            <a:ext cx="8239760" cy="3409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795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Strategy Design Pattern</a:t>
            </a:r>
            <a:endParaRPr lang="en-US" sz="1795" b="1" dirty="0">
              <a:solidFill>
                <a:srgbClr val="151515"/>
              </a:solidFill>
              <a:latin typeface="+mj-lt"/>
            </a:endParaRPr>
          </a:p>
        </p:txBody>
      </p:sp>
      <p:sp>
        <p:nvSpPr>
          <p:cNvPr id="147" name="Rectangle 41732_#color_#shadow_$dk1-788&amp;2007">
            <a:extLst>
              <a:ext uri="{FF2B5EF4-FFF2-40B4-BE49-F238E27FC236}">
                <a16:creationId xmlns:a16="http://schemas.microsoft.com/office/drawing/2014/main" id="{499486C8-ED04-C39F-A87E-1A569606A82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81940" y="2466339"/>
            <a:ext cx="8534400" cy="2353168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2">
                <a:alpha val="20000"/>
              </a:schemeClr>
            </a:outerShdw>
          </a:effectLst>
        </p:spPr>
        <p:txBody>
          <a:bodyPr/>
          <a:lstStyle/>
          <a:p>
            <a:endParaRPr lang="en-US" sz="161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9" name="矩形 8">
            <a:extLst>
              <a:ext uri="{FF2B5EF4-FFF2-40B4-BE49-F238E27FC236}">
                <a16:creationId xmlns:a16="http://schemas.microsoft.com/office/drawing/2014/main" id="{63148CDE-8339-16B3-DB83-D5337E59326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6880" y="3255010"/>
            <a:ext cx="8239760" cy="13651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40404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矩形 9">
            <a:extLst>
              <a:ext uri="{FF2B5EF4-FFF2-40B4-BE49-F238E27FC236}">
                <a16:creationId xmlns:a16="http://schemas.microsoft.com/office/drawing/2014/main" id="{DB5C0635-AE74-1E7D-1506-834770860DB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29260" y="2662237"/>
            <a:ext cx="8239760" cy="3409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795" b="1" dirty="0">
                <a:solidFill>
                  <a:srgbClr val="15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537B5-FD26-4081-212F-31E40C433475}"/>
              </a:ext>
            </a:extLst>
          </p:cNvPr>
          <p:cNvSpPr txBox="1"/>
          <p:nvPr/>
        </p:nvSpPr>
        <p:spPr>
          <a:xfrm>
            <a:off x="327660" y="3079519"/>
            <a:ext cx="8060852" cy="1536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Navigator App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have different routing strategies: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Route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 Route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Cycling Route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 Route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all route logic inside one class, each route becomes a separate strategy and the app selects one when needed.</a:t>
            </a:r>
          </a:p>
        </p:txBody>
      </p:sp>
    </p:spTree>
    <p:extLst>
      <p:ext uri="{BB962C8B-B14F-4D97-AF65-F5344CB8AC3E}">
        <p14:creationId xmlns:p14="http://schemas.microsoft.com/office/powerpoint/2010/main" val="2637930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/>
          <p:nvPr/>
        </p:nvSpPr>
        <p:spPr>
          <a:xfrm rot="5400000">
            <a:off x="2244038" y="2393338"/>
            <a:ext cx="1574400" cy="2058575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6"/>
          <p:cNvSpPr/>
          <p:nvPr/>
        </p:nvSpPr>
        <p:spPr>
          <a:xfrm rot="-5400000" flipH="1">
            <a:off x="4398349" y="733025"/>
            <a:ext cx="1574400" cy="2084200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46"/>
          <p:cNvSpPr/>
          <p:nvPr/>
        </p:nvSpPr>
        <p:spPr>
          <a:xfrm rot="-5400000" flipH="1">
            <a:off x="4398349" y="2380525"/>
            <a:ext cx="1574400" cy="2084200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46"/>
          <p:cNvSpPr txBox="1">
            <a:spLocks noGrp="1"/>
          </p:cNvSpPr>
          <p:nvPr>
            <p:ph type="ctrTitle"/>
          </p:nvPr>
        </p:nvSpPr>
        <p:spPr>
          <a:xfrm rot="5400000">
            <a:off x="7083000" y="1450825"/>
            <a:ext cx="25224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441" name="Google Shape;441;p46"/>
          <p:cNvSpPr/>
          <p:nvPr/>
        </p:nvSpPr>
        <p:spPr>
          <a:xfrm rot="5400000">
            <a:off x="2244038" y="745838"/>
            <a:ext cx="1574400" cy="2058575"/>
          </a:xfrm>
          <a:prstGeom prst="flowChartOffpageConnector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6"/>
          <p:cNvSpPr txBox="1">
            <a:spLocks noGrp="1"/>
          </p:cNvSpPr>
          <p:nvPr>
            <p:ph type="ctrTitle" idx="4294967295"/>
          </p:nvPr>
        </p:nvSpPr>
        <p:spPr>
          <a:xfrm>
            <a:off x="2601551" y="1072400"/>
            <a:ext cx="13233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Walking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443" name="Google Shape;443;p46"/>
          <p:cNvSpPr txBox="1">
            <a:spLocks noGrp="1"/>
          </p:cNvSpPr>
          <p:nvPr>
            <p:ph type="ctrTitle" idx="4294967295"/>
          </p:nvPr>
        </p:nvSpPr>
        <p:spPr>
          <a:xfrm>
            <a:off x="2671440" y="3604840"/>
            <a:ext cx="12534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Cycling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444" name="Google Shape;444;p46"/>
          <p:cNvSpPr txBox="1">
            <a:spLocks noGrp="1"/>
          </p:cNvSpPr>
          <p:nvPr>
            <p:ph type="ctrTitle" idx="4294967295"/>
          </p:nvPr>
        </p:nvSpPr>
        <p:spPr>
          <a:xfrm>
            <a:off x="4323057" y="1072400"/>
            <a:ext cx="12534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</a:rPr>
              <a:t>Public Transport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445" name="Google Shape;445;p46"/>
          <p:cNvSpPr txBox="1">
            <a:spLocks noGrp="1"/>
          </p:cNvSpPr>
          <p:nvPr>
            <p:ph type="ctrTitle" idx="4294967295"/>
          </p:nvPr>
        </p:nvSpPr>
        <p:spPr>
          <a:xfrm>
            <a:off x="4318000" y="3697925"/>
            <a:ext cx="1509486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</a:rPr>
              <a:t>Tourist Routes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446" name="Google Shape;446;p46"/>
          <p:cNvSpPr txBox="1">
            <a:spLocks noGrp="1"/>
          </p:cNvSpPr>
          <p:nvPr>
            <p:ph type="subTitle" idx="4294967295"/>
          </p:nvPr>
        </p:nvSpPr>
        <p:spPr>
          <a:xfrm flipH="1">
            <a:off x="4318000" y="1589325"/>
            <a:ext cx="13233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Livvic" pitchFamily="2" charset="0"/>
              </a:rPr>
              <a:t>to suggest travel using buses, trains, or similar services.</a:t>
            </a:r>
            <a:endParaRPr sz="1000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447" name="Google Shape;447;p46"/>
          <p:cNvSpPr txBox="1">
            <a:spLocks noGrp="1"/>
          </p:cNvSpPr>
          <p:nvPr>
            <p:ph type="subTitle" idx="4294967295"/>
          </p:nvPr>
        </p:nvSpPr>
        <p:spPr>
          <a:xfrm flipH="1">
            <a:off x="4318000" y="2837647"/>
            <a:ext cx="13233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Livvic" pitchFamily="2" charset="0"/>
              </a:rPr>
              <a:t>to recommend scenic or attraction-based paths.</a:t>
            </a:r>
            <a:endParaRPr sz="1000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448" name="Google Shape;448;p46"/>
          <p:cNvSpPr/>
          <p:nvPr/>
        </p:nvSpPr>
        <p:spPr>
          <a:xfrm>
            <a:off x="3652825" y="2342925"/>
            <a:ext cx="885900" cy="52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6"/>
          <p:cNvSpPr txBox="1">
            <a:spLocks noGrp="1"/>
          </p:cNvSpPr>
          <p:nvPr>
            <p:ph type="subTitle" idx="4294967295"/>
          </p:nvPr>
        </p:nvSpPr>
        <p:spPr>
          <a:xfrm flipH="1">
            <a:off x="2594200" y="1457300"/>
            <a:ext cx="13233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Livvic" pitchFamily="2" charset="0"/>
              </a:rPr>
              <a:t>to provide directions for pedestrians.</a:t>
            </a:r>
            <a:endParaRPr sz="1000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450" name="Google Shape;450;p46"/>
          <p:cNvSpPr txBox="1">
            <a:spLocks noGrp="1"/>
          </p:cNvSpPr>
          <p:nvPr>
            <p:ph type="subTitle" idx="4294967295"/>
          </p:nvPr>
        </p:nvSpPr>
        <p:spPr>
          <a:xfrm flipH="1">
            <a:off x="2671440" y="2992569"/>
            <a:ext cx="13233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Livvic" pitchFamily="2" charset="0"/>
              </a:rPr>
              <a:t>to support bike-friendly navigation</a:t>
            </a:r>
            <a:endParaRPr sz="1000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451" name="Google Shape;451;p46"/>
          <p:cNvSpPr/>
          <p:nvPr/>
        </p:nvSpPr>
        <p:spPr>
          <a:xfrm>
            <a:off x="3924857" y="2403095"/>
            <a:ext cx="372159" cy="372159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42457" y="128060"/>
            <a:ext cx="4151086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ivvic" pitchFamily="2" charset="0"/>
              </a:rPr>
              <a:t>Navigator app initially supported car routes only. </a:t>
            </a:r>
            <a:r>
              <a:rPr lang="en-US" dirty="0">
                <a:solidFill>
                  <a:srgbClr val="C00000"/>
                </a:solidFill>
                <a:latin typeface="Livvic" pitchFamily="2" charset="0"/>
              </a:rPr>
              <a:t>New routing options includes: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5"/>
          <p:cNvSpPr txBox="1">
            <a:spLocks noGrp="1"/>
          </p:cNvSpPr>
          <p:nvPr>
            <p:ph type="subTitle" idx="1"/>
          </p:nvPr>
        </p:nvSpPr>
        <p:spPr>
          <a:xfrm flipH="1">
            <a:off x="999689" y="1205447"/>
            <a:ext cx="190279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Livvic" pitchFamily="2" charset="0"/>
              </a:rPr>
              <a:t>Diffult to maintain and modify</a:t>
            </a:r>
            <a:endParaRPr sz="1400" dirty="0">
              <a:latin typeface="Livvic" pitchFamily="2" charset="0"/>
            </a:endParaRPr>
          </a:p>
        </p:txBody>
      </p:sp>
      <p:sp>
        <p:nvSpPr>
          <p:cNvPr id="424" name="Google Shape;424;p45"/>
          <p:cNvSpPr/>
          <p:nvPr/>
        </p:nvSpPr>
        <p:spPr>
          <a:xfrm>
            <a:off x="4057130" y="730016"/>
            <a:ext cx="2716200" cy="5121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5"/>
          <p:cNvSpPr txBox="1">
            <a:spLocks noGrp="1"/>
          </p:cNvSpPr>
          <p:nvPr>
            <p:ph type="ctrTitle" idx="6"/>
          </p:nvPr>
        </p:nvSpPr>
        <p:spPr>
          <a:xfrm rot="5400000">
            <a:off x="6917630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Issues Faced</a:t>
            </a:r>
            <a:endParaRPr dirty="0"/>
          </a:p>
        </p:txBody>
      </p:sp>
      <p:sp>
        <p:nvSpPr>
          <p:cNvPr id="426" name="Google Shape;426;p45"/>
          <p:cNvSpPr/>
          <p:nvPr/>
        </p:nvSpPr>
        <p:spPr>
          <a:xfrm>
            <a:off x="595411" y="2328223"/>
            <a:ext cx="2716200" cy="5121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7" name="Google Shape;427;p45"/>
          <p:cNvSpPr/>
          <p:nvPr/>
        </p:nvSpPr>
        <p:spPr>
          <a:xfrm flipH="1">
            <a:off x="595411" y="730016"/>
            <a:ext cx="2716200" cy="5121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5"/>
          <p:cNvSpPr txBox="1">
            <a:spLocks noGrp="1"/>
          </p:cNvSpPr>
          <p:nvPr>
            <p:ph type="ctrTitle"/>
          </p:nvPr>
        </p:nvSpPr>
        <p:spPr>
          <a:xfrm>
            <a:off x="207336" y="793616"/>
            <a:ext cx="22149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 Issue-2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29" name="Google Shape;429;p45"/>
          <p:cNvSpPr txBox="1">
            <a:spLocks noGrp="1"/>
          </p:cNvSpPr>
          <p:nvPr>
            <p:ph type="subTitle" idx="2"/>
          </p:nvPr>
        </p:nvSpPr>
        <p:spPr>
          <a:xfrm>
            <a:off x="4435130" y="1254324"/>
            <a:ext cx="19602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Livvic" pitchFamily="2" charset="0"/>
              </a:rPr>
              <a:t>Class became large and complex</a:t>
            </a:r>
            <a:endParaRPr sz="1400" dirty="0">
              <a:latin typeface="Livvic" pitchFamily="2" charset="0"/>
            </a:endParaRPr>
          </a:p>
        </p:txBody>
      </p:sp>
      <p:sp>
        <p:nvSpPr>
          <p:cNvPr id="430" name="Google Shape;430;p45"/>
          <p:cNvSpPr txBox="1">
            <a:spLocks noGrp="1"/>
          </p:cNvSpPr>
          <p:nvPr>
            <p:ph type="ctrTitle" idx="3"/>
          </p:nvPr>
        </p:nvSpPr>
        <p:spPr>
          <a:xfrm>
            <a:off x="4872967" y="793616"/>
            <a:ext cx="26193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Issue-1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31" name="Google Shape;431;p45"/>
          <p:cNvSpPr txBox="1">
            <a:spLocks noGrp="1"/>
          </p:cNvSpPr>
          <p:nvPr>
            <p:ph type="subTitle" idx="4"/>
          </p:nvPr>
        </p:nvSpPr>
        <p:spPr>
          <a:xfrm>
            <a:off x="930933" y="2792064"/>
            <a:ext cx="2214900" cy="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sz="1400" dirty="0">
                <a:latin typeface="Livvic" pitchFamily="2" charset="0"/>
              </a:rPr>
              <a:t>Higher risk of bugs</a:t>
            </a:r>
          </a:p>
        </p:txBody>
      </p:sp>
      <p:sp>
        <p:nvSpPr>
          <p:cNvPr id="432" name="Google Shape;432;p45"/>
          <p:cNvSpPr txBox="1">
            <a:spLocks noGrp="1"/>
          </p:cNvSpPr>
          <p:nvPr>
            <p:ph type="ctrTitle" idx="5"/>
          </p:nvPr>
        </p:nvSpPr>
        <p:spPr>
          <a:xfrm>
            <a:off x="1475067" y="2407164"/>
            <a:ext cx="24756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Issue-3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Google Shape;426;p45"/>
          <p:cNvSpPr/>
          <p:nvPr/>
        </p:nvSpPr>
        <p:spPr>
          <a:xfrm>
            <a:off x="4057130" y="2315700"/>
            <a:ext cx="2716200" cy="5121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432;p45"/>
          <p:cNvSpPr txBox="1"/>
          <p:nvPr/>
        </p:nvSpPr>
        <p:spPr>
          <a:xfrm>
            <a:off x="4860455" y="2379300"/>
            <a:ext cx="2475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vvic"/>
              <a:buNone/>
              <a:defRPr sz="16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dirty="0">
                <a:solidFill>
                  <a:schemeClr val="lt1"/>
                </a:solidFill>
              </a:rPr>
              <a:t> Issue-4</a:t>
            </a:r>
          </a:p>
        </p:txBody>
      </p:sp>
      <p:sp>
        <p:nvSpPr>
          <p:cNvPr id="4" name="Google Shape;431;p45"/>
          <p:cNvSpPr txBox="1"/>
          <p:nvPr/>
        </p:nvSpPr>
        <p:spPr>
          <a:xfrm>
            <a:off x="4373174" y="2788984"/>
            <a:ext cx="22149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0" indent="0" algn="ctr"/>
            <a:r>
              <a:rPr lang="en-US" sz="1400" dirty="0">
                <a:latin typeface="Livvic" pitchFamily="2" charset="0"/>
              </a:rPr>
              <a:t>Frequent merge conflicts in team development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2219815" y="433375"/>
            <a:ext cx="4275000" cy="14298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3"/>
          <p:cNvSpPr txBox="1">
            <a:spLocks noGrp="1"/>
          </p:cNvSpPr>
          <p:nvPr>
            <p:ph type="subTitle" idx="1"/>
          </p:nvPr>
        </p:nvSpPr>
        <p:spPr>
          <a:xfrm>
            <a:off x="2937108" y="609300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</a:pPr>
            <a:r>
              <a:rPr lang="en-US" dirty="0">
                <a:solidFill>
                  <a:schemeClr val="bg1"/>
                </a:solidFill>
                <a:latin typeface="Livvic" pitchFamily="2" charset="0"/>
              </a:rPr>
              <a:t>Extract each routing algorithm into a separate Strategy class. </a:t>
            </a:r>
          </a:p>
          <a:p>
            <a:pPr marL="0" lvl="0" indent="0" algn="ctr">
              <a:spcAft>
                <a:spcPts val="1600"/>
              </a:spcAft>
            </a:pPr>
            <a:r>
              <a:rPr lang="en-US" dirty="0">
                <a:solidFill>
                  <a:schemeClr val="bg1"/>
                </a:solidFill>
                <a:latin typeface="Livvic" pitchFamily="2" charset="0"/>
              </a:rPr>
              <a:t>Define a common interface: </a:t>
            </a:r>
            <a:r>
              <a:rPr lang="en-US" dirty="0" err="1">
                <a:solidFill>
                  <a:schemeClr val="bg1"/>
                </a:solidFill>
                <a:latin typeface="Livvic" pitchFamily="2" charset="0"/>
              </a:rPr>
              <a:t>buildRoute</a:t>
            </a:r>
            <a:r>
              <a:rPr lang="en-US" dirty="0">
                <a:solidFill>
                  <a:schemeClr val="bg1"/>
                </a:solidFill>
                <a:latin typeface="Livvic" pitchFamily="2" charset="0"/>
              </a:rPr>
              <a:t>(start, end)</a:t>
            </a:r>
            <a:endParaRPr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384" name="Google Shape;384;p43"/>
          <p:cNvSpPr txBox="1">
            <a:spLocks noGrp="1"/>
          </p:cNvSpPr>
          <p:nvPr>
            <p:ph type="ctrTitle"/>
          </p:nvPr>
        </p:nvSpPr>
        <p:spPr>
          <a:xfrm rot="5400000">
            <a:off x="7285135" y="1041025"/>
            <a:ext cx="1702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Solution</a:t>
            </a:r>
            <a:endParaRPr dirty="0"/>
          </a:p>
        </p:txBody>
      </p:sp>
      <p:sp>
        <p:nvSpPr>
          <p:cNvPr id="385" name="Google Shape;385;p43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41;p40"/>
          <p:cNvSpPr/>
          <p:nvPr/>
        </p:nvSpPr>
        <p:spPr>
          <a:xfrm>
            <a:off x="651865" y="3162231"/>
            <a:ext cx="3135900" cy="6004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bg1"/>
                </a:solidFill>
                <a:latin typeface="Livvic" pitchFamily="2" charset="0"/>
              </a:rPr>
              <a:t>WalkingRouteStrategy</a:t>
            </a:r>
            <a:endParaRPr sz="1200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4" name="Google Shape;352;p40"/>
          <p:cNvSpPr/>
          <p:nvPr/>
        </p:nvSpPr>
        <p:spPr>
          <a:xfrm>
            <a:off x="651865" y="2314157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tx2">
                    <a:lumMod val="10000"/>
                  </a:schemeClr>
                </a:solidFill>
                <a:latin typeface="Livvic" pitchFamily="2" charset="0"/>
              </a:rPr>
              <a:t>CarRouteStrategy</a:t>
            </a:r>
            <a:endParaRPr dirty="0">
              <a:solidFill>
                <a:schemeClr val="tx2">
                  <a:lumMod val="10000"/>
                </a:schemeClr>
              </a:solidFill>
              <a:latin typeface="Livvic" pitchFamily="2" charset="0"/>
            </a:endParaRPr>
          </a:p>
        </p:txBody>
      </p:sp>
      <p:sp>
        <p:nvSpPr>
          <p:cNvPr id="5" name="Google Shape;352;p40"/>
          <p:cNvSpPr/>
          <p:nvPr/>
        </p:nvSpPr>
        <p:spPr>
          <a:xfrm>
            <a:off x="651865" y="4102475"/>
            <a:ext cx="3135900" cy="600477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ivvic" pitchFamily="2" charset="0"/>
              </a:rPr>
              <a:t>PublicTranportStrategy</a:t>
            </a:r>
            <a:endParaRPr dirty="0">
              <a:latin typeface="Livvic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1714" y="1938327"/>
            <a:ext cx="2133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ivvic" pitchFamily="2" charset="0"/>
              </a:rPr>
              <a:t>Examples</a:t>
            </a:r>
          </a:p>
        </p:txBody>
      </p:sp>
      <p:sp>
        <p:nvSpPr>
          <p:cNvPr id="7" name="Google Shape;352;p40"/>
          <p:cNvSpPr/>
          <p:nvPr/>
        </p:nvSpPr>
        <p:spPr>
          <a:xfrm>
            <a:off x="4451658" y="2314157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Livvic" pitchFamily="2" charset="0"/>
              </a:rPr>
              <a:t>CyclingRouteStrategy</a:t>
            </a:r>
            <a:endParaRPr dirty="0">
              <a:solidFill>
                <a:schemeClr val="tx1">
                  <a:lumMod val="50000"/>
                </a:schemeClr>
              </a:solidFill>
              <a:latin typeface="Livvic" pitchFamily="2" charset="0"/>
            </a:endParaRPr>
          </a:p>
        </p:txBody>
      </p:sp>
      <p:sp>
        <p:nvSpPr>
          <p:cNvPr id="8" name="Google Shape;341;p40"/>
          <p:cNvSpPr/>
          <p:nvPr/>
        </p:nvSpPr>
        <p:spPr>
          <a:xfrm>
            <a:off x="4451658" y="3162231"/>
            <a:ext cx="3135900" cy="6004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Livvic" pitchFamily="2" charset="0"/>
              </a:rPr>
              <a:t>Navigator – delegates route calculation to the selected strategy</a:t>
            </a:r>
            <a:endParaRPr sz="1200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9" name="Google Shape;352;p40"/>
          <p:cNvSpPr/>
          <p:nvPr/>
        </p:nvSpPr>
        <p:spPr>
          <a:xfrm>
            <a:off x="4451658" y="4102475"/>
            <a:ext cx="3135900" cy="600477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ivvic" pitchFamily="2" charset="0"/>
              </a:rPr>
              <a:t>Strategies can be switched at runtime</a:t>
            </a:r>
            <a:endParaRPr dirty="0">
              <a:latin typeface="Livvic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ctrTitle" idx="6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Benefits</a:t>
            </a:r>
            <a:endParaRPr dirty="0"/>
          </a:p>
        </p:txBody>
      </p:sp>
      <p:sp>
        <p:nvSpPr>
          <p:cNvPr id="177" name="Google Shape;177;p30"/>
          <p:cNvSpPr/>
          <p:nvPr/>
        </p:nvSpPr>
        <p:spPr>
          <a:xfrm>
            <a:off x="0" y="0"/>
            <a:ext cx="3607500" cy="18838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3607486" y="-25500"/>
            <a:ext cx="3607500" cy="1703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0" y="3259697"/>
            <a:ext cx="3607500" cy="18838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3607473" y="3210710"/>
            <a:ext cx="3607500" cy="19327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ctrTitle" idx="2"/>
          </p:nvPr>
        </p:nvSpPr>
        <p:spPr>
          <a:xfrm>
            <a:off x="3961303" y="394586"/>
            <a:ext cx="2924149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Livvic" pitchFamily="2" charset="0"/>
              </a:rPr>
              <a:t>✔ </a:t>
            </a:r>
            <a:r>
              <a:rPr lang="en-US" dirty="0">
                <a:solidFill>
                  <a:schemeClr val="bg1"/>
                </a:solidFill>
              </a:rPr>
              <a:t>Better maintainability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5" name="Google Shape;185;p30"/>
          <p:cNvSpPr txBox="1">
            <a:spLocks noGrp="1"/>
          </p:cNvSpPr>
          <p:nvPr>
            <p:ph type="ctrTitle" idx="4"/>
          </p:nvPr>
        </p:nvSpPr>
        <p:spPr>
          <a:xfrm>
            <a:off x="322953" y="3829043"/>
            <a:ext cx="287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Livvic" pitchFamily="2" charset="0"/>
              </a:rPr>
              <a:t>✔ Reduced code duplication and bugs </a:t>
            </a:r>
            <a:endParaRPr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186" name="Google Shape;186;p30"/>
          <p:cNvSpPr txBox="1">
            <a:spLocks noGrp="1"/>
          </p:cNvSpPr>
          <p:nvPr>
            <p:ph type="ctrTitle"/>
          </p:nvPr>
        </p:nvSpPr>
        <p:spPr>
          <a:xfrm>
            <a:off x="406652" y="606801"/>
            <a:ext cx="287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ivvic" pitchFamily="2" charset="0"/>
              </a:rPr>
              <a:t>✔</a:t>
            </a:r>
            <a:r>
              <a:rPr lang="en-US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dirty="0"/>
              <a:t>Easy to add new routing algorithms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7" name="Google Shape;187;p30"/>
          <p:cNvSpPr txBox="1">
            <a:spLocks noGrp="1"/>
          </p:cNvSpPr>
          <p:nvPr>
            <p:ph type="ctrTitle" idx="7"/>
          </p:nvPr>
        </p:nvSpPr>
        <p:spPr>
          <a:xfrm>
            <a:off x="4097612" y="3829043"/>
            <a:ext cx="278784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ivvic" pitchFamily="2" charset="0"/>
              </a:rPr>
              <a:t>✔ </a:t>
            </a:r>
            <a:r>
              <a:rPr lang="en-US" dirty="0">
                <a:latin typeface="Livvic" pitchFamily="2" charset="0"/>
              </a:rPr>
              <a:t>Improved teamwork and scalability</a:t>
            </a:r>
            <a:endParaRPr dirty="0">
              <a:latin typeface="Livvic" pitchFamily="2" charset="0"/>
            </a:endParaRPr>
          </a:p>
        </p:txBody>
      </p:sp>
      <p:sp>
        <p:nvSpPr>
          <p:cNvPr id="2" name="Google Shape;341;p40"/>
          <p:cNvSpPr/>
          <p:nvPr/>
        </p:nvSpPr>
        <p:spPr>
          <a:xfrm>
            <a:off x="1977646" y="1671587"/>
            <a:ext cx="3364375" cy="158810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800" b="1" dirty="0">
                <a:solidFill>
                  <a:schemeClr val="bg1"/>
                </a:solidFill>
                <a:latin typeface="Livvic" pitchFamily="2" charset="0"/>
              </a:rPr>
              <a:t>✔ Follows the Open/Closed Principle </a:t>
            </a:r>
            <a:endParaRPr sz="1800" b="1" dirty="0">
              <a:solidFill>
                <a:schemeClr val="bg1"/>
              </a:solidFill>
              <a:latin typeface="Livvic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91837" y="702059"/>
            <a:ext cx="2887500" cy="7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0"/>
          <p:cNvSpPr txBox="1">
            <a:spLocks noGrp="1"/>
          </p:cNvSpPr>
          <p:nvPr>
            <p:ph type="ctrTitle"/>
          </p:nvPr>
        </p:nvSpPr>
        <p:spPr>
          <a:xfrm rot="5400000">
            <a:off x="6624339" y="2206308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 Life AnalogY</a:t>
            </a:r>
            <a:endParaRPr dirty="0"/>
          </a:p>
        </p:txBody>
      </p:sp>
      <p:sp>
        <p:nvSpPr>
          <p:cNvPr id="344" name="Google Shape;344;p40"/>
          <p:cNvSpPr txBox="1">
            <a:spLocks noGrp="1"/>
          </p:cNvSpPr>
          <p:nvPr>
            <p:ph type="ctrTitle"/>
          </p:nvPr>
        </p:nvSpPr>
        <p:spPr>
          <a:xfrm>
            <a:off x="1097287" y="934291"/>
            <a:ext cx="20766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Getting to the Airport</a:t>
            </a:r>
            <a:endParaRPr sz="1400" b="0" dirty="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691837" y="1810417"/>
            <a:ext cx="2887500" cy="775200"/>
          </a:xfrm>
          <a:prstGeom prst="rect">
            <a:avLst/>
          </a:prstGeom>
          <a:solidFill>
            <a:schemeClr val="accent1">
              <a:alpha val="732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40"/>
          <p:cNvSpPr txBox="1">
            <a:spLocks noGrp="1"/>
          </p:cNvSpPr>
          <p:nvPr>
            <p:ph type="ctrTitle"/>
          </p:nvPr>
        </p:nvSpPr>
        <p:spPr>
          <a:xfrm>
            <a:off x="720487" y="1954267"/>
            <a:ext cx="2830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600" b="0" dirty="0"/>
              <a:t>Transportation strategies</a:t>
            </a:r>
            <a:endParaRPr sz="1400" b="0" dirty="0"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653448" y="2918775"/>
            <a:ext cx="2887500" cy="7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ctrTitle"/>
          </p:nvPr>
        </p:nvSpPr>
        <p:spPr>
          <a:xfrm>
            <a:off x="824461" y="3126906"/>
            <a:ext cx="2545474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b="0" dirty="0">
                <a:solidFill>
                  <a:schemeClr val="bg1"/>
                </a:solidFill>
              </a:rPr>
              <a:t>Depending on factors</a:t>
            </a:r>
            <a:endParaRPr sz="1100" b="0" dirty="0">
              <a:solidFill>
                <a:schemeClr val="bg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51" name="Google Shape;351;p40"/>
          <p:cNvSpPr txBox="1">
            <a:spLocks noGrp="1"/>
          </p:cNvSpPr>
          <p:nvPr>
            <p:ph type="ctrTitle"/>
          </p:nvPr>
        </p:nvSpPr>
        <p:spPr>
          <a:xfrm>
            <a:off x="847325" y="962025"/>
            <a:ext cx="2830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 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026" name="Picture 2" descr="Various transportation strateg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175" y="528061"/>
            <a:ext cx="4373526" cy="382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/>
          <p:nvPr/>
        </p:nvSpPr>
        <p:spPr>
          <a:xfrm>
            <a:off x="5334000" y="533400"/>
            <a:ext cx="352500" cy="9543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7"/>
          <p:cNvSpPr/>
          <p:nvPr/>
        </p:nvSpPr>
        <p:spPr>
          <a:xfrm>
            <a:off x="2400300" y="533400"/>
            <a:ext cx="352500" cy="9543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7"/>
          <p:cNvSpPr/>
          <p:nvPr/>
        </p:nvSpPr>
        <p:spPr>
          <a:xfrm>
            <a:off x="3889388" y="3657600"/>
            <a:ext cx="352500" cy="9543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7"/>
          <p:cNvSpPr/>
          <p:nvPr/>
        </p:nvSpPr>
        <p:spPr>
          <a:xfrm>
            <a:off x="942975" y="3657600"/>
            <a:ext cx="352500" cy="9543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1" name="Google Shape;461;p47"/>
          <p:cNvCxnSpPr/>
          <p:nvPr/>
        </p:nvCxnSpPr>
        <p:spPr>
          <a:xfrm rot="10800000">
            <a:off x="2511450" y="533400"/>
            <a:ext cx="0" cy="20955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47"/>
          <p:cNvCxnSpPr/>
          <p:nvPr/>
        </p:nvCxnSpPr>
        <p:spPr>
          <a:xfrm rot="10800000">
            <a:off x="5426100" y="533400"/>
            <a:ext cx="0" cy="20955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3" name="Google Shape;463;p47"/>
          <p:cNvSpPr txBox="1">
            <a:spLocks noGrp="1"/>
          </p:cNvSpPr>
          <p:nvPr>
            <p:ph type="ctrTitle"/>
          </p:nvPr>
        </p:nvSpPr>
        <p:spPr>
          <a:xfrm rot="5400000">
            <a:off x="6317412" y="2216407"/>
            <a:ext cx="4053565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Structue - 4  Components</a:t>
            </a:r>
            <a:endParaRPr dirty="0"/>
          </a:p>
        </p:txBody>
      </p:sp>
      <p:sp>
        <p:nvSpPr>
          <p:cNvPr id="464" name="Google Shape;464;p47"/>
          <p:cNvSpPr txBox="1"/>
          <p:nvPr/>
        </p:nvSpPr>
        <p:spPr>
          <a:xfrm>
            <a:off x="2771850" y="775816"/>
            <a:ext cx="18516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Runs the strategy, never knows details</a:t>
            </a:r>
            <a:endParaRPr lang="en-US" sz="12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465" name="Google Shape;465;p47"/>
          <p:cNvSpPr txBox="1"/>
          <p:nvPr/>
        </p:nvSpPr>
        <p:spPr>
          <a:xfrm>
            <a:off x="2819550" y="433375"/>
            <a:ext cx="1147918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Context</a:t>
            </a:r>
            <a:endParaRPr sz="1800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grpSp>
        <p:nvGrpSpPr>
          <p:cNvPr id="466" name="Google Shape;466;p47"/>
          <p:cNvGrpSpPr/>
          <p:nvPr/>
        </p:nvGrpSpPr>
        <p:grpSpPr>
          <a:xfrm>
            <a:off x="942975" y="2460601"/>
            <a:ext cx="6001362" cy="222300"/>
            <a:chOff x="1464850" y="436376"/>
            <a:chExt cx="6001362" cy="222300"/>
          </a:xfrm>
        </p:grpSpPr>
        <p:sp>
          <p:nvSpPr>
            <p:cNvPr id="467" name="Google Shape;467;p47"/>
            <p:cNvSpPr/>
            <p:nvPr/>
          </p:nvSpPr>
          <p:spPr>
            <a:xfrm>
              <a:off x="1464850" y="436376"/>
              <a:ext cx="222300" cy="22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7"/>
            <p:cNvSpPr/>
            <p:nvPr/>
          </p:nvSpPr>
          <p:spPr>
            <a:xfrm>
              <a:off x="4410215" y="436376"/>
              <a:ext cx="222300" cy="22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7243912" y="436376"/>
              <a:ext cx="222300" cy="22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2920366" y="436376"/>
              <a:ext cx="222300" cy="22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7"/>
            <p:cNvSpPr/>
            <p:nvPr/>
          </p:nvSpPr>
          <p:spPr>
            <a:xfrm>
              <a:off x="5831847" y="436376"/>
              <a:ext cx="222300" cy="222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2" name="Google Shape;472;p47"/>
            <p:cNvCxnSpPr/>
            <p:nvPr/>
          </p:nvCxnSpPr>
          <p:spPr>
            <a:xfrm>
              <a:off x="1798637" y="547513"/>
              <a:ext cx="988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Google Shape;473;p47"/>
            <p:cNvCxnSpPr/>
            <p:nvPr/>
          </p:nvCxnSpPr>
          <p:spPr>
            <a:xfrm>
              <a:off x="3276248" y="547513"/>
              <a:ext cx="988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Google Shape;474;p47"/>
            <p:cNvCxnSpPr/>
            <p:nvPr/>
          </p:nvCxnSpPr>
          <p:spPr>
            <a:xfrm>
              <a:off x="4753898" y="547513"/>
              <a:ext cx="988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5" name="Google Shape;475;p47"/>
            <p:cNvCxnSpPr/>
            <p:nvPr/>
          </p:nvCxnSpPr>
          <p:spPr>
            <a:xfrm>
              <a:off x="6143961" y="547513"/>
              <a:ext cx="988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6" name="Google Shape;476;p47"/>
          <p:cNvSpPr txBox="1"/>
          <p:nvPr/>
        </p:nvSpPr>
        <p:spPr>
          <a:xfrm>
            <a:off x="5715605" y="1116955"/>
            <a:ext cx="18516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Each algorithm lives in its own class</a:t>
            </a:r>
            <a:endParaRPr lang="en-US" sz="12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477" name="Google Shape;477;p47"/>
          <p:cNvSpPr txBox="1"/>
          <p:nvPr/>
        </p:nvSpPr>
        <p:spPr>
          <a:xfrm>
            <a:off x="5656409" y="422837"/>
            <a:ext cx="1851600" cy="67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solidFill>
                  <a:schemeClr val="accent2"/>
                </a:solidFill>
              </a:rPr>
              <a:t>CONCRETE STRATEGIES</a:t>
            </a:r>
            <a:endParaRPr lang="en-US" sz="18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cxnSp>
        <p:nvCxnSpPr>
          <p:cNvPr id="478" name="Google Shape;478;p47"/>
          <p:cNvCxnSpPr/>
          <p:nvPr/>
        </p:nvCxnSpPr>
        <p:spPr>
          <a:xfrm rot="10800000">
            <a:off x="3987825" y="2581800"/>
            <a:ext cx="0" cy="2028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9" name="Google Shape;479;p47"/>
          <p:cNvSpPr txBox="1"/>
          <p:nvPr/>
        </p:nvSpPr>
        <p:spPr>
          <a:xfrm>
            <a:off x="4227186" y="4184552"/>
            <a:ext cx="18516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all strategies must follow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80" name="Google Shape;480;p47"/>
          <p:cNvSpPr txBox="1"/>
          <p:nvPr/>
        </p:nvSpPr>
        <p:spPr>
          <a:xfrm>
            <a:off x="4198982" y="3524731"/>
            <a:ext cx="2111999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solidFill>
                  <a:schemeClr val="accent2"/>
                </a:solidFill>
              </a:rPr>
              <a:t>STRATEGY INTERFACE</a:t>
            </a:r>
            <a:endParaRPr lang="en-US" sz="18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cxnSp>
        <p:nvCxnSpPr>
          <p:cNvPr id="481" name="Google Shape;481;p47"/>
          <p:cNvCxnSpPr/>
          <p:nvPr/>
        </p:nvCxnSpPr>
        <p:spPr>
          <a:xfrm rot="10800000">
            <a:off x="1044600" y="2581800"/>
            <a:ext cx="0" cy="2028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47"/>
          <p:cNvSpPr txBox="1"/>
          <p:nvPr/>
        </p:nvSpPr>
        <p:spPr>
          <a:xfrm>
            <a:off x="1317750" y="3902810"/>
            <a:ext cx="18516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Chooses which strategy to use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83" name="Google Shape;483;p47"/>
          <p:cNvSpPr txBox="1"/>
          <p:nvPr/>
        </p:nvSpPr>
        <p:spPr>
          <a:xfrm>
            <a:off x="1308225" y="3523665"/>
            <a:ext cx="11334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solidFill>
                  <a:schemeClr val="accent2"/>
                </a:solidFill>
              </a:rPr>
              <a:t>CLIENT</a:t>
            </a:r>
            <a:endParaRPr sz="1800" b="1" dirty="0">
              <a:solidFill>
                <a:schemeClr val="accent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Structure  —  Keywords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0200" y="1303655"/>
            <a:ext cx="201168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51280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CLIENT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30076" y="1174232"/>
            <a:ext cx="8087995" cy="3897223"/>
            <a:chOff x="317" y="1195"/>
            <a:chExt cx="12996" cy="6618"/>
          </a:xfrm>
        </p:grpSpPr>
        <p:sp>
          <p:nvSpPr>
            <p:cNvPr id="6" name="Text 4"/>
            <p:cNvSpPr/>
            <p:nvPr/>
          </p:nvSpPr>
          <p:spPr>
            <a:xfrm>
              <a:off x="432" y="2304"/>
              <a:ext cx="2880" cy="122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• Decides
• Creates
• Injects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485" y="2707"/>
              <a:ext cx="1267" cy="0"/>
            </a:xfrm>
            <a:prstGeom prst="line">
              <a:avLst/>
            </a:prstGeom>
            <a:noFill/>
            <a:ln w="31750">
              <a:solidFill>
                <a:srgbClr val="1A2B4A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549" y="2304"/>
              <a:ext cx="1296" cy="40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4748B"/>
                  </a:solidFill>
                </a:rPr>
                <a:t>injects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824" y="1320"/>
              <a:ext cx="3955" cy="2424"/>
            </a:xfrm>
            <a:prstGeom prst="roundRect">
              <a:avLst>
                <a:gd name="adj" fmla="val 7059"/>
              </a:avLst>
            </a:prstGeom>
            <a:solidFill>
              <a:schemeClr val="accent2"/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4118" y="1472"/>
              <a:ext cx="4896" cy="7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CONTEXT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68" y="2189"/>
              <a:ext cx="4464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CEDE9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strategy: Strategy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968" y="2707"/>
              <a:ext cx="4464" cy="461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CEDE9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setStrategy(s)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968" y="3139"/>
              <a:ext cx="4464" cy="461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CEDE9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executeStrategy()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4824" y="3672"/>
              <a:ext cx="2232" cy="403"/>
            </a:xfrm>
            <a:prstGeom prst="roundRect">
              <a:avLst>
                <a:gd name="adj" fmla="val 14286"/>
              </a:avLst>
            </a:prstGeom>
            <a:solidFill>
              <a:srgbClr val="0D9488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4824" y="3672"/>
              <a:ext cx="2232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Delegates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778" y="3674"/>
              <a:ext cx="2081" cy="403"/>
            </a:xfrm>
            <a:prstGeom prst="roundRect">
              <a:avLst>
                <a:gd name="adj" fmla="val 14286"/>
              </a:avLst>
            </a:prstGeom>
            <a:solidFill>
              <a:srgbClr val="0D9488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6597" y="3677"/>
              <a:ext cx="2232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Doesn't know HOW</a:t>
              </a:r>
              <a:endParaRPr 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 flipH="1" flipV="1">
              <a:off x="8779" y="2707"/>
              <a:ext cx="1008" cy="0"/>
            </a:xfrm>
            <a:prstGeom prst="line">
              <a:avLst/>
            </a:prstGeom>
            <a:noFill/>
            <a:ln w="31750">
              <a:solidFill>
                <a:srgbClr val="0D9488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647" y="2081"/>
              <a:ext cx="1152" cy="40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4748B"/>
                  </a:solidFill>
                </a:rPr>
                <a:t>uses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9720" y="1195"/>
              <a:ext cx="3312" cy="2448"/>
            </a:xfrm>
            <a:prstGeom prst="roundRect">
              <a:avLst>
                <a:gd name="adj" fmla="val 7059"/>
              </a:avLst>
            </a:prstGeom>
            <a:solidFill>
              <a:schemeClr val="accent2"/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9677" y="1440"/>
              <a:ext cx="3312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«interface»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STRATEGY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008" y="2542"/>
              <a:ext cx="3024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CEDE9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execute()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9936" y="3413"/>
              <a:ext cx="2880" cy="403"/>
            </a:xfrm>
            <a:prstGeom prst="roundRect">
              <a:avLst>
                <a:gd name="adj" fmla="val 14286"/>
              </a:avLst>
            </a:prstGeom>
            <a:solidFill>
              <a:srgbClr val="1A2B4A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9903" y="3390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Common Contract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9917" y="3881"/>
              <a:ext cx="2880" cy="403"/>
            </a:xfrm>
            <a:prstGeom prst="roundRect">
              <a:avLst>
                <a:gd name="adj" fmla="val 14286"/>
              </a:avLst>
            </a:prstGeom>
            <a:solidFill>
              <a:srgbClr val="1A2B4A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9936" y="3859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Interchangeable</a:t>
              </a:r>
            </a:p>
          </p:txBody>
        </p:sp>
        <p:sp>
          <p:nvSpPr>
            <p:cNvPr id="27" name="Shape 25"/>
            <p:cNvSpPr/>
            <p:nvPr/>
          </p:nvSpPr>
          <p:spPr>
            <a:xfrm>
              <a:off x="12442" y="3888"/>
              <a:ext cx="0" cy="792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28" name="Shape 26"/>
            <p:cNvSpPr/>
            <p:nvPr/>
          </p:nvSpPr>
          <p:spPr>
            <a:xfrm>
              <a:off x="2131" y="4680"/>
              <a:ext cx="10325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29" name="Text 27"/>
            <p:cNvSpPr/>
            <p:nvPr/>
          </p:nvSpPr>
          <p:spPr>
            <a:xfrm>
              <a:off x="10080" y="4176"/>
              <a:ext cx="2592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64748B"/>
                  </a:solidFill>
                </a:rPr>
                <a:t>implements ↑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024" y="4680"/>
              <a:ext cx="0" cy="432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31" name="Shape 29"/>
            <p:cNvSpPr/>
            <p:nvPr/>
          </p:nvSpPr>
          <p:spPr>
            <a:xfrm>
              <a:off x="7056" y="4680"/>
              <a:ext cx="0" cy="432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32" name="Shape 30"/>
            <p:cNvSpPr/>
            <p:nvPr/>
          </p:nvSpPr>
          <p:spPr>
            <a:xfrm>
              <a:off x="11088" y="4680"/>
              <a:ext cx="0" cy="432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33" name="Shape 31"/>
            <p:cNvSpPr/>
            <p:nvPr/>
          </p:nvSpPr>
          <p:spPr>
            <a:xfrm>
              <a:off x="317" y="5112"/>
              <a:ext cx="3960" cy="2664"/>
            </a:xfrm>
            <a:prstGeom prst="roundRect">
              <a:avLst>
                <a:gd name="adj" fmla="val 6486"/>
              </a:avLst>
            </a:prstGeom>
            <a:solidFill>
              <a:schemeClr val="accent1">
                <a:lumMod val="75000"/>
              </a:schemeClr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34" name="Text 32"/>
            <p:cNvSpPr/>
            <p:nvPr/>
          </p:nvSpPr>
          <p:spPr>
            <a:xfrm>
              <a:off x="317" y="5112"/>
              <a:ext cx="3960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Concrete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Strategy A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317" y="6077"/>
              <a:ext cx="3960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Bus</a:t>
              </a:r>
            </a:p>
          </p:txBody>
        </p:sp>
        <p:sp>
          <p:nvSpPr>
            <p:cNvPr id="36" name="Shape 34"/>
            <p:cNvSpPr/>
            <p:nvPr/>
          </p:nvSpPr>
          <p:spPr>
            <a:xfrm>
              <a:off x="605" y="7344"/>
              <a:ext cx="3312" cy="403"/>
            </a:xfrm>
            <a:prstGeom prst="roundRect">
              <a:avLst>
                <a:gd name="adj" fmla="val 14286"/>
              </a:avLst>
            </a:prstGeom>
            <a:solidFill>
              <a:schemeClr val="tx2">
                <a:lumMod val="10000"/>
                <a:alpha val="70000"/>
              </a:schemeClr>
            </a:solidFill>
          </p:spPr>
        </p:sp>
        <p:sp>
          <p:nvSpPr>
            <p:cNvPr id="37" name="Text 35"/>
            <p:cNvSpPr/>
            <p:nvPr/>
          </p:nvSpPr>
          <p:spPr>
            <a:xfrm>
              <a:off x="605" y="7344"/>
              <a:ext cx="3312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execute(bus)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5069" y="5112"/>
              <a:ext cx="3960" cy="2664"/>
            </a:xfrm>
            <a:prstGeom prst="roundRect">
              <a:avLst>
                <a:gd name="adj" fmla="val 6486"/>
              </a:avLst>
            </a:prstGeom>
            <a:solidFill>
              <a:schemeClr val="accent1">
                <a:lumMod val="75000"/>
              </a:schemeClr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5069" y="5112"/>
              <a:ext cx="3960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Concrete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Strategy B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5069" y="6077"/>
              <a:ext cx="3960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Car/Cab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5357" y="7344"/>
              <a:ext cx="3312" cy="403"/>
            </a:xfrm>
            <a:prstGeom prst="roundRect">
              <a:avLst>
                <a:gd name="adj" fmla="val 14286"/>
              </a:avLst>
            </a:prstGeom>
            <a:solidFill>
              <a:schemeClr val="tx2">
                <a:lumMod val="10000"/>
                <a:alpha val="70000"/>
              </a:schemeClr>
            </a:solidFill>
          </p:spPr>
        </p:sp>
        <p:sp>
          <p:nvSpPr>
            <p:cNvPr id="42" name="Text 40"/>
            <p:cNvSpPr/>
            <p:nvPr/>
          </p:nvSpPr>
          <p:spPr>
            <a:xfrm>
              <a:off x="5357" y="7344"/>
              <a:ext cx="3312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execute(Car/cab)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9799" y="5150"/>
              <a:ext cx="3168" cy="2664"/>
            </a:xfrm>
            <a:prstGeom prst="roundRect">
              <a:avLst>
                <a:gd name="adj" fmla="val 6486"/>
              </a:avLst>
            </a:prstGeom>
            <a:solidFill>
              <a:schemeClr val="accent1">
                <a:lumMod val="75000"/>
              </a:schemeClr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44" name="Text 42"/>
            <p:cNvSpPr/>
            <p:nvPr/>
          </p:nvSpPr>
          <p:spPr>
            <a:xfrm>
              <a:off x="9353" y="5245"/>
              <a:ext cx="3960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Concrete</a:t>
              </a:r>
              <a:endParaRPr lang="en-US" sz="13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Strategy C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9353" y="6246"/>
              <a:ext cx="3960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Bicycle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9720" y="7410"/>
              <a:ext cx="3312" cy="403"/>
            </a:xfrm>
            <a:prstGeom prst="roundRect">
              <a:avLst>
                <a:gd name="adj" fmla="val 14286"/>
              </a:avLst>
            </a:prstGeom>
            <a:solidFill>
              <a:schemeClr val="tx2">
                <a:lumMod val="10000"/>
                <a:alpha val="70000"/>
              </a:schemeClr>
            </a:solidFill>
          </p:spPr>
        </p:sp>
        <p:sp>
          <p:nvSpPr>
            <p:cNvPr id="47" name="Text 45"/>
            <p:cNvSpPr/>
            <p:nvPr/>
          </p:nvSpPr>
          <p:spPr>
            <a:xfrm>
              <a:off x="9765" y="7394"/>
              <a:ext cx="3312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charset="0"/>
                  <a:ea typeface="Courier New" panose="02070309020205020404" pitchFamily="34" charset="-122"/>
                  <a:cs typeface="Times New Roman" panose="02020603050405020304" charset="0"/>
                </a:rPr>
                <a:t>execute(bicycle)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9" name="Google Shape;145;p28"/>
          <p:cNvSpPr txBox="1"/>
          <p:nvPr/>
        </p:nvSpPr>
        <p:spPr>
          <a:xfrm>
            <a:off x="366000" y="225285"/>
            <a:ext cx="349042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Structure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Real-Life Analogy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✈  </a:t>
            </a:r>
            <a:r>
              <a:rPr lang="en-US" sz="1800" i="1" dirty="0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Getting to the Airport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53312" y="3858768"/>
            <a:ext cx="64465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5" y="402336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tx2">
              <a:lumMod val="10000"/>
            </a:schemeClr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520" y="4087368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🚌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BUS</a:t>
            </a:r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EDE9"/>
                </a:solidFill>
                <a:latin typeface="Times New Roman" panose="02020603050405020304" charset="0"/>
                <a:cs typeface="Times New Roman" panose="02020603050405020304" charset="0"/>
              </a:rPr>
              <a:t>Cheap  •  Slow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4901184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ConcreteBusStrategy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55849" y="4055363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tx2">
              <a:lumMod val="10000"/>
            </a:schemeClr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46120" y="493776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ConcreteTaxiStrategy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63571" y="4031473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tx2">
              <a:lumMod val="10000"/>
            </a:schemeClr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35040" y="4087368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🚲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BICYCLE</a:t>
            </a:r>
            <a:endParaRPr lang="en-US" sz="1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35040" y="44805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EDE9"/>
                </a:solidFill>
                <a:latin typeface="Times New Roman" panose="02020603050405020304" charset="0"/>
                <a:cs typeface="Times New Roman" panose="02020603050405020304" charset="0"/>
              </a:rPr>
              <a:t>Free  •  Distance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63571" y="491844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ConcreteBikeStrategy</a:t>
            </a:r>
            <a:endParaRPr lang="en-US" sz="800" dirty="0"/>
          </a:p>
        </p:txBody>
      </p:sp>
      <p:grpSp>
        <p:nvGrpSpPr>
          <p:cNvPr id="2" name="Group 1"/>
          <p:cNvGrpSpPr/>
          <p:nvPr/>
        </p:nvGrpSpPr>
        <p:grpSpPr>
          <a:xfrm>
            <a:off x="1828800" y="625475"/>
            <a:ext cx="5486400" cy="4212590"/>
            <a:chOff x="2880" y="1615"/>
            <a:chExt cx="8640" cy="5823"/>
          </a:xfrm>
        </p:grpSpPr>
        <p:sp>
          <p:nvSpPr>
            <p:cNvPr id="5" name="Shape 3"/>
            <p:cNvSpPr/>
            <p:nvPr/>
          </p:nvSpPr>
          <p:spPr>
            <a:xfrm>
              <a:off x="5760" y="1615"/>
              <a:ext cx="2880" cy="144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5760" y="1944"/>
              <a:ext cx="288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Traveler</a:t>
              </a:r>
              <a:endParaRPr lang="en-US" sz="18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760" y="2470"/>
              <a:ext cx="288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i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Client</a:t>
              </a:r>
              <a:endParaRPr lang="en-US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7171" y="3139"/>
              <a:ext cx="0" cy="792"/>
            </a:xfrm>
            <a:prstGeom prst="line">
              <a:avLst/>
            </a:prstGeom>
            <a:noFill/>
            <a:ln w="31750">
              <a:solidFill>
                <a:srgbClr val="1A2B4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7272" y="3283"/>
              <a:ext cx="1872" cy="40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64748B"/>
                  </a:solidFill>
                </a:rPr>
                <a:t>sets strategy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040" y="3865"/>
              <a:ext cx="4320" cy="1051"/>
            </a:xfrm>
            <a:prstGeom prst="roundRect">
              <a:avLst>
                <a:gd name="adj" fmla="val 11111"/>
              </a:avLst>
            </a:prstGeom>
            <a:solidFill>
              <a:srgbClr val="1A2B4A"/>
            </a:solidFill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5040" y="3881"/>
              <a:ext cx="4320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TRIP</a:t>
              </a:r>
              <a:endParaRPr lang="en-US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040" y="4344"/>
              <a:ext cx="432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CCEDE9"/>
                  </a:solidFill>
                  <a:latin typeface="Times New Roman" panose="02020603050405020304" charset="0"/>
                  <a:cs typeface="Times New Roman" panose="02020603050405020304" charset="0"/>
                </a:rPr>
                <a:t>Context</a:t>
              </a:r>
              <a:endParaRPr lang="en-US" sz="11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7171" y="5472"/>
              <a:ext cx="0" cy="576"/>
            </a:xfrm>
            <a:prstGeom prst="line">
              <a:avLst/>
            </a:prstGeom>
            <a:noFill/>
            <a:ln w="31750">
              <a:solidFill>
                <a:srgbClr val="0D9488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272" y="5544"/>
              <a:ext cx="2592" cy="40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64748B"/>
                  </a:solidFill>
                </a:rPr>
                <a:t>calls getThere()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880" y="6077"/>
              <a:ext cx="0" cy="36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7171" y="6077"/>
              <a:ext cx="0" cy="36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11520" y="6077"/>
              <a:ext cx="0" cy="36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285" y="6372"/>
              <a:ext cx="3456" cy="6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rPr>
                <a:t>🚕 Tourist route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317" y="6934"/>
              <a:ext cx="3456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CEDE9"/>
                  </a:solidFill>
                  <a:latin typeface="Times New Roman" panose="02020603050405020304" charset="0"/>
                  <a:cs typeface="Times New Roman" panose="02020603050405020304" charset="0"/>
                </a:rPr>
                <a:t>Fast  •  Costly</a:t>
              </a:r>
              <a:endParaRPr lang="en-US" sz="16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5040" y="5298"/>
              <a:ext cx="4320" cy="547"/>
            </a:xfrm>
            <a:prstGeom prst="roundRect">
              <a:avLst>
                <a:gd name="adj" fmla="val 15789"/>
              </a:avLst>
            </a:prstGeom>
            <a:solidFill>
              <a:srgbClr val="0D9488"/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5040" y="5206"/>
              <a:ext cx="4320" cy="6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anose="02070309020205020404" pitchFamily="34" charset="-120"/>
                </a:rPr>
                <a:t>«interface»  Travel to the Airport</a:t>
              </a:r>
              <a:endParaRPr lang="en-US" sz="11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/>
          <p:nvPr/>
        </p:nvSpPr>
        <p:spPr>
          <a:xfrm flipH="1">
            <a:off x="3873247" y="3394575"/>
            <a:ext cx="10074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Insert your multimedia content here</a:t>
            </a:r>
            <a:endParaRPr sz="1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93" name="Google Shape;393;p44"/>
          <p:cNvSpPr txBox="1">
            <a:spLocks noGrp="1"/>
          </p:cNvSpPr>
          <p:nvPr>
            <p:ph type="ctrTitle"/>
          </p:nvPr>
        </p:nvSpPr>
        <p:spPr>
          <a:xfrm>
            <a:off x="506095" y="103505"/>
            <a:ext cx="2655570" cy="48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Advantages</a:t>
            </a:r>
            <a:endParaRPr dirty="0"/>
          </a:p>
        </p:txBody>
      </p:sp>
      <p:sp>
        <p:nvSpPr>
          <p:cNvPr id="396" name="Google Shape;396;p44"/>
          <p:cNvSpPr/>
          <p:nvPr/>
        </p:nvSpPr>
        <p:spPr>
          <a:xfrm>
            <a:off x="2388522" y="1364604"/>
            <a:ext cx="487515" cy="486396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4"/>
          <p:cNvSpPr/>
          <p:nvPr/>
        </p:nvSpPr>
        <p:spPr>
          <a:xfrm>
            <a:off x="1230513" y="2256223"/>
            <a:ext cx="47527" cy="52655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4"/>
          <p:cNvSpPr/>
          <p:nvPr/>
        </p:nvSpPr>
        <p:spPr>
          <a:xfrm>
            <a:off x="1288462" y="2252605"/>
            <a:ext cx="10468" cy="59875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4"/>
          <p:cNvSpPr/>
          <p:nvPr/>
        </p:nvSpPr>
        <p:spPr>
          <a:xfrm>
            <a:off x="1117448" y="2252605"/>
            <a:ext cx="9984" cy="59875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4"/>
          <p:cNvSpPr/>
          <p:nvPr/>
        </p:nvSpPr>
        <p:spPr>
          <a:xfrm>
            <a:off x="1091314" y="2252605"/>
            <a:ext cx="9998" cy="59875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4"/>
          <p:cNvSpPr/>
          <p:nvPr/>
        </p:nvSpPr>
        <p:spPr>
          <a:xfrm>
            <a:off x="6840325" y="2114088"/>
            <a:ext cx="30422" cy="59875"/>
          </a:xfrm>
          <a:custGeom>
            <a:avLst/>
            <a:gdLst/>
            <a:ahLst/>
            <a:cxnLst/>
            <a:rect l="l" t="t" r="r" b="b"/>
            <a:pathLst>
              <a:path w="2136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cubicBezTo>
                  <a:pt x="1" y="567"/>
                  <a:pt x="168" y="734"/>
                  <a:pt x="368" y="734"/>
                </a:cubicBezTo>
                <a:lnTo>
                  <a:pt x="1402" y="734"/>
                </a:lnTo>
                <a:lnTo>
                  <a:pt x="1402" y="3503"/>
                </a:lnTo>
                <a:lnTo>
                  <a:pt x="368" y="3503"/>
                </a:lnTo>
                <a:cubicBezTo>
                  <a:pt x="168" y="3503"/>
                  <a:pt x="1" y="3636"/>
                  <a:pt x="1" y="3836"/>
                </a:cubicBezTo>
                <a:cubicBezTo>
                  <a:pt x="1" y="4037"/>
                  <a:pt x="168" y="4203"/>
                  <a:pt x="368" y="4203"/>
                </a:cubicBezTo>
                <a:lnTo>
                  <a:pt x="1769" y="4203"/>
                </a:lnTo>
                <a:cubicBezTo>
                  <a:pt x="1969" y="4203"/>
                  <a:pt x="2136" y="4037"/>
                  <a:pt x="2136" y="3836"/>
                </a:cubicBezTo>
                <a:lnTo>
                  <a:pt x="2136" y="367"/>
                </a:lnTo>
                <a:cubicBezTo>
                  <a:pt x="2136" y="167"/>
                  <a:pt x="1969" y="0"/>
                  <a:pt x="17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6583237" y="3249667"/>
            <a:ext cx="408290" cy="407347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5613430" y="4220937"/>
            <a:ext cx="39802" cy="44096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4"/>
          <p:cNvSpPr/>
          <p:nvPr/>
        </p:nvSpPr>
        <p:spPr>
          <a:xfrm>
            <a:off x="5661961" y="4217907"/>
            <a:ext cx="8767" cy="50143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/>
          <p:cNvSpPr/>
          <p:nvPr/>
        </p:nvSpPr>
        <p:spPr>
          <a:xfrm>
            <a:off x="5518741" y="4217907"/>
            <a:ext cx="8361" cy="50143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4"/>
          <p:cNvSpPr/>
          <p:nvPr/>
        </p:nvSpPr>
        <p:spPr>
          <a:xfrm>
            <a:off x="5496854" y="4217907"/>
            <a:ext cx="8373" cy="50143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hape 2"/>
          <p:cNvSpPr/>
          <p:nvPr/>
        </p:nvSpPr>
        <p:spPr>
          <a:xfrm>
            <a:off x="506562" y="589977"/>
            <a:ext cx="7131771" cy="3844519"/>
          </a:xfrm>
          <a:prstGeom prst="roundRect">
            <a:avLst>
              <a:gd name="adj" fmla="val 3488"/>
            </a:avLst>
          </a:prstGeom>
          <a:solidFill>
            <a:srgbClr val="D1FAE5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Google Shape;352;p40"/>
          <p:cNvSpPr/>
          <p:nvPr/>
        </p:nvSpPr>
        <p:spPr>
          <a:xfrm>
            <a:off x="737347" y="1121686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  Runtime Flexibility</a:t>
            </a:r>
          </a:p>
        </p:txBody>
      </p:sp>
      <p:sp>
        <p:nvSpPr>
          <p:cNvPr id="8" name="Google Shape;352;p40"/>
          <p:cNvSpPr/>
          <p:nvPr/>
        </p:nvSpPr>
        <p:spPr>
          <a:xfrm>
            <a:off x="737347" y="2193799"/>
            <a:ext cx="3135900" cy="600476"/>
          </a:xfrm>
          <a:prstGeom prst="rect">
            <a:avLst/>
          </a:prstGeom>
          <a:solidFill>
            <a:schemeClr val="accent2">
              <a:lumMod val="90000"/>
              <a:lumOff val="10000"/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  Open / Closed Support</a:t>
            </a:r>
          </a:p>
        </p:txBody>
      </p:sp>
      <p:sp>
        <p:nvSpPr>
          <p:cNvPr id="9" name="Google Shape;352;p40"/>
          <p:cNvSpPr/>
          <p:nvPr/>
        </p:nvSpPr>
        <p:spPr>
          <a:xfrm>
            <a:off x="737347" y="3189268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  Easy Maintenance</a:t>
            </a:r>
          </a:p>
        </p:txBody>
      </p:sp>
      <p:sp>
        <p:nvSpPr>
          <p:cNvPr id="10" name="Google Shape;352;p40"/>
          <p:cNvSpPr/>
          <p:nvPr/>
        </p:nvSpPr>
        <p:spPr>
          <a:xfrm>
            <a:off x="4177772" y="1121686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  Code Reusability</a:t>
            </a:r>
          </a:p>
        </p:txBody>
      </p:sp>
      <p:sp>
        <p:nvSpPr>
          <p:cNvPr id="11" name="Google Shape;352;p40"/>
          <p:cNvSpPr/>
          <p:nvPr/>
        </p:nvSpPr>
        <p:spPr>
          <a:xfrm>
            <a:off x="4187840" y="2190854"/>
            <a:ext cx="3135900" cy="600476"/>
          </a:xfrm>
          <a:prstGeom prst="rect">
            <a:avLst/>
          </a:prstGeom>
          <a:solidFill>
            <a:schemeClr val="accent2">
              <a:lumMod val="90000"/>
              <a:lumOff val="10000"/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  Less Conditional Logic</a:t>
            </a:r>
          </a:p>
        </p:txBody>
      </p:sp>
      <p:sp>
        <p:nvSpPr>
          <p:cNvPr id="12" name="Google Shape;352;p40"/>
          <p:cNvSpPr/>
          <p:nvPr/>
        </p:nvSpPr>
        <p:spPr>
          <a:xfrm>
            <a:off x="4206851" y="3189268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6.   Easy Testing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idx="2"/>
          </p:nvPr>
        </p:nvSpPr>
        <p:spPr>
          <a:xfrm>
            <a:off x="294005" y="93757"/>
            <a:ext cx="5610882" cy="577800"/>
          </a:xfrm>
        </p:spPr>
        <p:txBody>
          <a:bodyPr/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Disadvantages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19</a:t>
            </a:fld>
            <a:endParaRPr lang="en-US"/>
          </a:p>
        </p:txBody>
      </p:sp>
      <p:sp>
        <p:nvSpPr>
          <p:cNvPr id="392" name="Google Shape;392;p44"/>
          <p:cNvSpPr txBox="1"/>
          <p:nvPr/>
        </p:nvSpPr>
        <p:spPr>
          <a:xfrm flipH="1">
            <a:off x="3873247" y="3394575"/>
            <a:ext cx="10074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Insert your multimedia content here</a:t>
            </a:r>
            <a:endParaRPr sz="1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96" name="Google Shape;396;p44"/>
          <p:cNvSpPr/>
          <p:nvPr/>
        </p:nvSpPr>
        <p:spPr>
          <a:xfrm>
            <a:off x="2388522" y="1364604"/>
            <a:ext cx="487515" cy="486396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4"/>
          <p:cNvSpPr/>
          <p:nvPr/>
        </p:nvSpPr>
        <p:spPr>
          <a:xfrm>
            <a:off x="1230513" y="2256223"/>
            <a:ext cx="47527" cy="52655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4"/>
          <p:cNvSpPr/>
          <p:nvPr/>
        </p:nvSpPr>
        <p:spPr>
          <a:xfrm>
            <a:off x="1288462" y="2252605"/>
            <a:ext cx="10468" cy="59875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4"/>
          <p:cNvSpPr/>
          <p:nvPr/>
        </p:nvSpPr>
        <p:spPr>
          <a:xfrm>
            <a:off x="1117448" y="2252605"/>
            <a:ext cx="9984" cy="59875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4"/>
          <p:cNvSpPr/>
          <p:nvPr/>
        </p:nvSpPr>
        <p:spPr>
          <a:xfrm>
            <a:off x="1091314" y="2252605"/>
            <a:ext cx="9998" cy="59875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4"/>
          <p:cNvSpPr/>
          <p:nvPr/>
        </p:nvSpPr>
        <p:spPr>
          <a:xfrm>
            <a:off x="6840325" y="2114088"/>
            <a:ext cx="30422" cy="59875"/>
          </a:xfrm>
          <a:custGeom>
            <a:avLst/>
            <a:gdLst/>
            <a:ahLst/>
            <a:cxnLst/>
            <a:rect l="l" t="t" r="r" b="b"/>
            <a:pathLst>
              <a:path w="2136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cubicBezTo>
                  <a:pt x="1" y="567"/>
                  <a:pt x="168" y="734"/>
                  <a:pt x="368" y="734"/>
                </a:cubicBezTo>
                <a:lnTo>
                  <a:pt x="1402" y="734"/>
                </a:lnTo>
                <a:lnTo>
                  <a:pt x="1402" y="3503"/>
                </a:lnTo>
                <a:lnTo>
                  <a:pt x="368" y="3503"/>
                </a:lnTo>
                <a:cubicBezTo>
                  <a:pt x="168" y="3503"/>
                  <a:pt x="1" y="3636"/>
                  <a:pt x="1" y="3836"/>
                </a:cubicBezTo>
                <a:cubicBezTo>
                  <a:pt x="1" y="4037"/>
                  <a:pt x="168" y="4203"/>
                  <a:pt x="368" y="4203"/>
                </a:cubicBezTo>
                <a:lnTo>
                  <a:pt x="1769" y="4203"/>
                </a:lnTo>
                <a:cubicBezTo>
                  <a:pt x="1969" y="4203"/>
                  <a:pt x="2136" y="4037"/>
                  <a:pt x="2136" y="3836"/>
                </a:cubicBezTo>
                <a:lnTo>
                  <a:pt x="2136" y="367"/>
                </a:lnTo>
                <a:cubicBezTo>
                  <a:pt x="2136" y="167"/>
                  <a:pt x="1969" y="0"/>
                  <a:pt x="17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6583237" y="3249667"/>
            <a:ext cx="408290" cy="407347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5613430" y="4220937"/>
            <a:ext cx="39802" cy="44096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4"/>
          <p:cNvSpPr/>
          <p:nvPr/>
        </p:nvSpPr>
        <p:spPr>
          <a:xfrm>
            <a:off x="5661961" y="4217907"/>
            <a:ext cx="8767" cy="50143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/>
          <p:cNvSpPr/>
          <p:nvPr/>
        </p:nvSpPr>
        <p:spPr>
          <a:xfrm>
            <a:off x="5518741" y="4217907"/>
            <a:ext cx="8361" cy="50143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4"/>
          <p:cNvSpPr/>
          <p:nvPr/>
        </p:nvSpPr>
        <p:spPr>
          <a:xfrm>
            <a:off x="5496854" y="4217907"/>
            <a:ext cx="8373" cy="50143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hape 2"/>
          <p:cNvSpPr/>
          <p:nvPr/>
        </p:nvSpPr>
        <p:spPr>
          <a:xfrm>
            <a:off x="294005" y="760095"/>
            <a:ext cx="8206740" cy="4197985"/>
          </a:xfrm>
          <a:prstGeom prst="roundRect">
            <a:avLst>
              <a:gd name="adj" fmla="val 3488"/>
            </a:avLst>
          </a:prstGeom>
          <a:solidFill>
            <a:srgbClr val="D1FAE5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Google Shape;352;p40"/>
          <p:cNvSpPr/>
          <p:nvPr/>
        </p:nvSpPr>
        <p:spPr>
          <a:xfrm>
            <a:off x="737347" y="1121686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More Classes</a:t>
            </a:r>
          </a:p>
        </p:txBody>
      </p:sp>
      <p:sp>
        <p:nvSpPr>
          <p:cNvPr id="9" name="Google Shape;352;p40"/>
          <p:cNvSpPr/>
          <p:nvPr/>
        </p:nvSpPr>
        <p:spPr>
          <a:xfrm>
            <a:off x="737347" y="2193799"/>
            <a:ext cx="3135900" cy="600476"/>
          </a:xfrm>
          <a:prstGeom prst="rect">
            <a:avLst/>
          </a:prstGeom>
          <a:solidFill>
            <a:schemeClr val="accent2">
              <a:lumMod val="90000"/>
              <a:lumOff val="10000"/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Extra Overhead</a:t>
            </a:r>
          </a:p>
        </p:txBody>
      </p:sp>
      <p:sp>
        <p:nvSpPr>
          <p:cNvPr id="10" name="Google Shape;352;p40"/>
          <p:cNvSpPr/>
          <p:nvPr/>
        </p:nvSpPr>
        <p:spPr>
          <a:xfrm>
            <a:off x="737347" y="3189268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Strategy Selection Complexity</a:t>
            </a:r>
          </a:p>
        </p:txBody>
      </p:sp>
      <p:sp>
        <p:nvSpPr>
          <p:cNvPr id="11" name="Google Shape;352;p40"/>
          <p:cNvSpPr/>
          <p:nvPr/>
        </p:nvSpPr>
        <p:spPr>
          <a:xfrm>
            <a:off x="4289478" y="1607802"/>
            <a:ext cx="3135900" cy="600476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Overengineering Risk</a:t>
            </a:r>
          </a:p>
        </p:txBody>
      </p:sp>
      <p:sp>
        <p:nvSpPr>
          <p:cNvPr id="12" name="Google Shape;352;p40"/>
          <p:cNvSpPr/>
          <p:nvPr/>
        </p:nvSpPr>
        <p:spPr>
          <a:xfrm>
            <a:off x="4289478" y="2711617"/>
            <a:ext cx="3135900" cy="600476"/>
          </a:xfrm>
          <a:prstGeom prst="rect">
            <a:avLst/>
          </a:prstGeom>
          <a:solidFill>
            <a:schemeClr val="accent2">
              <a:lumMod val="90000"/>
              <a:lumOff val="10000"/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More Object Interaction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/>
          <p:nvPr/>
        </p:nvSpPr>
        <p:spPr>
          <a:xfrm flipH="1">
            <a:off x="3873247" y="3394575"/>
            <a:ext cx="10074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Insert your multimedia content here</a:t>
            </a:r>
            <a:endParaRPr sz="1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96" name="Google Shape;396;p44"/>
          <p:cNvSpPr/>
          <p:nvPr/>
        </p:nvSpPr>
        <p:spPr>
          <a:xfrm>
            <a:off x="2388522" y="1364604"/>
            <a:ext cx="487515" cy="486396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4"/>
          <p:cNvSpPr/>
          <p:nvPr/>
        </p:nvSpPr>
        <p:spPr>
          <a:xfrm>
            <a:off x="1230513" y="2256223"/>
            <a:ext cx="47527" cy="52655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4"/>
          <p:cNvSpPr/>
          <p:nvPr/>
        </p:nvSpPr>
        <p:spPr>
          <a:xfrm>
            <a:off x="1288462" y="2252605"/>
            <a:ext cx="10468" cy="59875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4"/>
          <p:cNvSpPr/>
          <p:nvPr/>
        </p:nvSpPr>
        <p:spPr>
          <a:xfrm>
            <a:off x="1117448" y="2252605"/>
            <a:ext cx="9984" cy="59875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4"/>
          <p:cNvSpPr/>
          <p:nvPr/>
        </p:nvSpPr>
        <p:spPr>
          <a:xfrm>
            <a:off x="1091314" y="2252605"/>
            <a:ext cx="9998" cy="59875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4"/>
          <p:cNvSpPr/>
          <p:nvPr/>
        </p:nvSpPr>
        <p:spPr>
          <a:xfrm>
            <a:off x="6840325" y="2114088"/>
            <a:ext cx="30422" cy="59875"/>
          </a:xfrm>
          <a:custGeom>
            <a:avLst/>
            <a:gdLst/>
            <a:ahLst/>
            <a:cxnLst/>
            <a:rect l="l" t="t" r="r" b="b"/>
            <a:pathLst>
              <a:path w="2136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cubicBezTo>
                  <a:pt x="1" y="567"/>
                  <a:pt x="168" y="734"/>
                  <a:pt x="368" y="734"/>
                </a:cubicBezTo>
                <a:lnTo>
                  <a:pt x="1402" y="734"/>
                </a:lnTo>
                <a:lnTo>
                  <a:pt x="1402" y="3503"/>
                </a:lnTo>
                <a:lnTo>
                  <a:pt x="368" y="3503"/>
                </a:lnTo>
                <a:cubicBezTo>
                  <a:pt x="168" y="3503"/>
                  <a:pt x="1" y="3636"/>
                  <a:pt x="1" y="3836"/>
                </a:cubicBezTo>
                <a:cubicBezTo>
                  <a:pt x="1" y="4037"/>
                  <a:pt x="168" y="4203"/>
                  <a:pt x="368" y="4203"/>
                </a:cubicBezTo>
                <a:lnTo>
                  <a:pt x="1769" y="4203"/>
                </a:lnTo>
                <a:cubicBezTo>
                  <a:pt x="1969" y="4203"/>
                  <a:pt x="2136" y="4037"/>
                  <a:pt x="2136" y="3836"/>
                </a:cubicBezTo>
                <a:lnTo>
                  <a:pt x="2136" y="367"/>
                </a:lnTo>
                <a:cubicBezTo>
                  <a:pt x="2136" y="167"/>
                  <a:pt x="1969" y="0"/>
                  <a:pt x="17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6583237" y="3249667"/>
            <a:ext cx="408290" cy="407347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5613430" y="4220937"/>
            <a:ext cx="39802" cy="44096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4"/>
          <p:cNvSpPr/>
          <p:nvPr/>
        </p:nvSpPr>
        <p:spPr>
          <a:xfrm>
            <a:off x="5661961" y="4217907"/>
            <a:ext cx="8767" cy="50143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/>
          <p:cNvSpPr/>
          <p:nvPr/>
        </p:nvSpPr>
        <p:spPr>
          <a:xfrm>
            <a:off x="5518741" y="4217907"/>
            <a:ext cx="8361" cy="50143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4"/>
          <p:cNvSpPr/>
          <p:nvPr/>
        </p:nvSpPr>
        <p:spPr>
          <a:xfrm>
            <a:off x="5496854" y="4217907"/>
            <a:ext cx="8373" cy="50143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ectangle: Folded Corner 13"/>
          <p:cNvSpPr/>
          <p:nvPr/>
        </p:nvSpPr>
        <p:spPr>
          <a:xfrm>
            <a:off x="1727215" y="800744"/>
            <a:ext cx="1780386" cy="1127720"/>
          </a:xfrm>
          <a:prstGeom prst="foldedCorner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Solutions Exist</a:t>
            </a:r>
          </a:p>
        </p:txBody>
      </p:sp>
      <p:sp>
        <p:nvSpPr>
          <p:cNvPr id="17" name="Rectangle: Folded Corner 16"/>
          <p:cNvSpPr/>
          <p:nvPr/>
        </p:nvSpPr>
        <p:spPr>
          <a:xfrm>
            <a:off x="1722441" y="2239197"/>
            <a:ext cx="1780386" cy="1127720"/>
          </a:xfrm>
          <a:prstGeom prst="foldedCorner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Complex Conditions</a:t>
            </a:r>
          </a:p>
        </p:txBody>
      </p:sp>
      <p:sp>
        <p:nvSpPr>
          <p:cNvPr id="18" name="Rectangle: Folded Corner 17"/>
          <p:cNvSpPr/>
          <p:nvPr/>
        </p:nvSpPr>
        <p:spPr>
          <a:xfrm>
            <a:off x="4278174" y="2887801"/>
            <a:ext cx="1780386" cy="1127720"/>
          </a:xfrm>
          <a:prstGeom prst="foldedCorner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Scalability</a:t>
            </a:r>
          </a:p>
        </p:txBody>
      </p:sp>
      <p:sp>
        <p:nvSpPr>
          <p:cNvPr id="19" name="Rectangle: Folded Corner 18"/>
          <p:cNvSpPr/>
          <p:nvPr/>
        </p:nvSpPr>
        <p:spPr>
          <a:xfrm>
            <a:off x="1722441" y="3654047"/>
            <a:ext cx="1780386" cy="1127720"/>
          </a:xfrm>
          <a:prstGeom prst="foldedCorner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SOLID Principles </a:t>
            </a:r>
          </a:p>
        </p:txBody>
      </p:sp>
      <p:sp>
        <p:nvSpPr>
          <p:cNvPr id="20" name="Rectangle: Folded Corner 19"/>
          <p:cNvSpPr/>
          <p:nvPr/>
        </p:nvSpPr>
        <p:spPr>
          <a:xfrm>
            <a:off x="4278174" y="1343094"/>
            <a:ext cx="1780386" cy="1127720"/>
          </a:xfrm>
          <a:prstGeom prst="foldedCorner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Behavior Needed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93725" y="67310"/>
            <a:ext cx="4717415" cy="65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to Use ? 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18E1F0-BAFD-73B8-96F4-E8B89FF87FCB}"/>
              </a:ext>
            </a:extLst>
          </p:cNvPr>
          <p:cNvSpPr txBox="1"/>
          <p:nvPr/>
        </p:nvSpPr>
        <p:spPr>
          <a:xfrm>
            <a:off x="2495693" y="302508"/>
            <a:ext cx="3925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407D4-3AC6-D635-0B28-5265F738E3C9}"/>
              </a:ext>
            </a:extLst>
          </p:cNvPr>
          <p:cNvSpPr/>
          <p:nvPr/>
        </p:nvSpPr>
        <p:spPr>
          <a:xfrm>
            <a:off x="493867" y="873148"/>
            <a:ext cx="3737046" cy="409073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0909D-314F-3F85-44E9-6C6C110FCFAF}"/>
              </a:ext>
            </a:extLst>
          </p:cNvPr>
          <p:cNvSpPr/>
          <p:nvPr/>
        </p:nvSpPr>
        <p:spPr>
          <a:xfrm>
            <a:off x="4913087" y="873149"/>
            <a:ext cx="3737046" cy="409073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91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DBF2D3-9C29-09E9-607A-9080CB215E4D}"/>
              </a:ext>
            </a:extLst>
          </p:cNvPr>
          <p:cNvSpPr/>
          <p:nvPr/>
        </p:nvSpPr>
        <p:spPr>
          <a:xfrm>
            <a:off x="508382" y="363095"/>
            <a:ext cx="3737046" cy="44173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EBEA8-61FD-44E1-F885-B7A094C66D70}"/>
              </a:ext>
            </a:extLst>
          </p:cNvPr>
          <p:cNvSpPr/>
          <p:nvPr/>
        </p:nvSpPr>
        <p:spPr>
          <a:xfrm>
            <a:off x="4761066" y="363095"/>
            <a:ext cx="3737046" cy="441730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5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760,3312296,3312530,331848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9*149"/>
  <p:tag name="TABLE_ENDDRAG_RECT" val="326*137*329*14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1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06_2*l_h_f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06_2*l_h_a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2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06_2*l_h_f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06_2*l_h_a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3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306_2*l_h_f*1_3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306_2*l_h_a*1_3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0.66"/>
  <p:tag name="KSO_WM_UNIT_FILL_FORE_SCHEMECOLOR_INDEX_3_TRANS" val="0"/>
  <p:tag name="KSO_WM_UNIT_FILL_FORE_SCHEMECOLOR_INDEX_4_BRIGHTNESS" val="0"/>
  <p:tag name="KSO_WM_UNIT_FILL_FORE_SCHEMECOLOR_INDEX_4" val="5"/>
  <p:tag name="KSO_WM_UNIT_FILL_FORE_SCHEMECOLOR_INDEX_4_POS" val="1"/>
  <p:tag name="KSO_WM_UNIT_FILL_FORE_SCHEMECOLOR_INDEX_4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a*1_1_1"/>
  <p:tag name="KSO_WM_TEMPLATE_CATEGORY" val="diagram"/>
  <p:tag name="KSO_WM_TEMPLATE_INDEX" val="20238173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UNIT_TYPE" val="m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gradient&quot;:[{&quot;brightness&quot;:0.550000011920929,&quot;colorType&quot;:2,&quot;pos&quot;:0,&quot;rgb&quot;:&quot;#dbe5ff&quot;,&quot;transparency&quot;:0},{&quot;brightness&quot;:0.949999988079071,&quot;colorType&quot;:2,&quot;pos&quot;:0.3700000047683716,&quot;rgb&quot;:&quot;#fdfeff&quot;,&quot;transparency&quot;:0},{&quot;brightness&quot;:0.699999988079071,&quot;colorType&quot;:2,&quot;pos&quot;:0.7099999785423279,&quot;rgb&quot;:&quot;#e7eeff&quot;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1_1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2_1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a*1_2_1"/>
  <p:tag name="KSO_WM_TEMPLATE_CATEGORY" val="diagram"/>
  <p:tag name="KSO_WM_TEMPLATE_INDEX" val="20238173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UNIT_TYPE" val="m_h_a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gradient&quot;:[{&quot;brightness&quot;:0.800000011920929,&quot;colorType&quot;:1,&quot;foreColorIndex&quot;:8,&quot;pos&quot;:0,&quot;transparency&quot;:0},{&quot;brightness&quot;:0,&quot;colorType&quot;:1,&quot;foreColorIndex&quot;:8,&quot;pos&quot;:0.4399999976158142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2_3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5,6,5,6,5,6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1_2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300000131130218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0.66"/>
  <p:tag name="KSO_WM_UNIT_FILL_FORE_SCHEMECOLOR_INDEX_3_TRANS" val="0"/>
  <p:tag name="KSO_WM_UNIT_FILL_FORE_SCHEMECOLOR_INDEX_4_BRIGHTNESS" val="0"/>
  <p:tag name="KSO_WM_UNIT_FILL_FORE_SCHEMECOLOR_INDEX_4" val="5"/>
  <p:tag name="KSO_WM_UNIT_FILL_FORE_SCHEMECOLOR_INDEX_4_POS" val="1"/>
  <p:tag name="KSO_WM_UNIT_FILL_FORE_SCHEMECOLOR_INDEX_4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a*1_3_1"/>
  <p:tag name="KSO_WM_TEMPLATE_CATEGORY" val="diagram"/>
  <p:tag name="KSO_WM_TEMPLATE_INDEX" val="20238173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UNIT_TYPE" val="m_h_a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gradient&quot;:[{&quot;brightness&quot;:0.550000011920929,&quot;colorType&quot;:2,&quot;pos&quot;:0,&quot;rgb&quot;:&quot;#dbe5ff&quot;,&quot;transparency&quot;:0},{&quot;brightness&quot;:0.949999988079071,&quot;colorType&quot;:2,&quot;pos&quot;:0.3700000047683716,&quot;rgb&quot;:&quot;#fdfeff&quot;,&quot;transparency&quot;:0},{&quot;brightness&quot;:0.699999988079071,&quot;colorType&quot;:2,&quot;pos&quot;:0.7099999785423279,&quot;rgb&quot;:&quot;#e7eeff&quot;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3_1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4_1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DIAGRAM_USE_COLOR_VALUE" val="{&quot;color_scheme&quot;:1,&quot;color_type&quot;:1,&quot;theme_color_indexes&quot;:[5,6,5,6,5,6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a*1_4_1"/>
  <p:tag name="KSO_WM_TEMPLATE_CATEGORY" val="diagram"/>
  <p:tag name="KSO_WM_TEMPLATE_INDEX" val="20238173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UNIT_TYPE" val="m_h_a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gradient&quot;:[{&quot;brightness&quot;:0.800000011920929,&quot;colorType&quot;:1,&quot;foreColorIndex&quot;:8,&quot;pos&quot;:0,&quot;transparency&quot;:0},{&quot;brightness&quot;:0,&quot;colorType&quot;:1,&quot;foreColorIndex&quot;:8,&quot;pos&quot;:0.4399999976158142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4_3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5,6,5,6,5,6]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3_2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8173_4*m_h_f*1_2_1"/>
  <p:tag name="KSO_WM_TEMPLATE_CATEGORY" val="diagram"/>
  <p:tag name="KSO_WM_TEMPLATE_INDEX" val="20238173"/>
  <p:tag name="KSO_WM_UNIT_LAYERLEVEL" val="1_1_1"/>
  <p:tag name="KSO_WM_TAG_VERSION" val="3.0"/>
  <p:tag name="KSO_WM_BEAUTIFY_FLAG" val="#wm#"/>
  <p:tag name="KSO_WM_UNIT_VALUE" val="45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8173_4*m_h_f*1_4_1"/>
  <p:tag name="KSO_WM_TEMPLATE_CATEGORY" val="diagram"/>
  <p:tag name="KSO_WM_TEMPLATE_INDEX" val="20238173"/>
  <p:tag name="KSO_WM_UNIT_LAYERLEVEL" val="1_1_1"/>
  <p:tag name="KSO_WM_TAG_VERSION" val="3.0"/>
  <p:tag name="KSO_WM_BEAUTIFY_FLAG" val="#wm#"/>
  <p:tag name="KSO_WM_UNIT_VALUE" val="45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8173_4*m_h_f*1_1_1"/>
  <p:tag name="KSO_WM_TEMPLATE_CATEGORY" val="diagram"/>
  <p:tag name="KSO_WM_TEMPLATE_INDEX" val="20238173"/>
  <p:tag name="KSO_WM_UNIT_LAYERLEVEL" val="1_1_1"/>
  <p:tag name="KSO_WM_TAG_VERSION" val="3.0"/>
  <p:tag name="KSO_WM_BEAUTIFY_FLAG" val="#wm#"/>
  <p:tag name="KSO_WM_UNIT_VALUE" val="45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8173_4*m_h_f*1_3_1"/>
  <p:tag name="KSO_WM_TEMPLATE_CATEGORY" val="diagram"/>
  <p:tag name="KSO_WM_TEMPLATE_INDEX" val="20238173"/>
  <p:tag name="KSO_WM_UNIT_LAYERLEVEL" val="1_1_1"/>
  <p:tag name="KSO_WM_TAG_VERSION" val="3.0"/>
  <p:tag name="KSO_WM_BEAUTIFY_FLAG" val="#wm#"/>
  <p:tag name="KSO_WM_UNIT_VALUE" val="45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0.66"/>
  <p:tag name="KSO_WM_UNIT_FILL_FORE_SCHEMECOLOR_INDEX_3_TRANS" val="0"/>
  <p:tag name="KSO_WM_UNIT_FILL_FORE_SCHEMECOLOR_INDEX_4_BRIGHTNESS" val="0"/>
  <p:tag name="KSO_WM_UNIT_FILL_FORE_SCHEMECOLOR_INDEX_4" val="5"/>
  <p:tag name="KSO_WM_UNIT_FILL_FORE_SCHEMECOLOR_INDEX_4_POS" val="1"/>
  <p:tag name="KSO_WM_UNIT_FILL_FORE_SCHEMECOLOR_INDEX_4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a*1_5_1"/>
  <p:tag name="KSO_WM_TEMPLATE_CATEGORY" val="diagram"/>
  <p:tag name="KSO_WM_TEMPLATE_INDEX" val="20238173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gradient&quot;:[{&quot;brightness&quot;:0.550000011920929,&quot;colorType&quot;:2,&quot;pos&quot;:0,&quot;rgb&quot;:&quot;#dbe5ff&quot;,&quot;transparency&quot;:0},{&quot;brightness&quot;:0.949999988079071,&quot;colorType&quot;:2,&quot;pos&quot;:0.3700000047683716,&quot;rgb&quot;:&quot;#fdfeff&quot;,&quot;transparency&quot;:0},{&quot;brightness&quot;:0.699999988079071,&quot;colorType&quot;:2,&quot;pos&quot;:0.7099999785423279,&quot;rgb&quot;:&quot;#e7eeff&quot;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5_2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8173_4*m_h_i*1_5_3"/>
  <p:tag name="KSO_WM_TEMPLATE_CATEGORY" val="diagram"/>
  <p:tag name="KSO_WM_TEMPLATE_INDEX" val="20238173"/>
  <p:tag name="KSO_WM_UNIT_LAYERLEVEL" val="1_1_1"/>
  <p:tag name="KSO_WM_TAG_VERSION" val="3.0"/>
  <p:tag name="KSO_WM_UNIT_TYPE" val="m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300000131130218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8173_4*m_h_f*1_5_1"/>
  <p:tag name="KSO_WM_TEMPLATE_CATEGORY" val="diagram"/>
  <p:tag name="KSO_WM_TEMPLATE_INDEX" val="20238173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83.3773668213744,&quot;left&quot;:0,&quot;top&quot;:119.46131658931283,&quot;width&quot;:720.016456692913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8180_1*q_h_a*1_1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3"/>
  <p:tag name="KSO_WM_UNIT_ID" val="diagram20238180_1*q_h_i*1_1_3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4"/>
  <p:tag name="KSO_WM_UNIT_ID" val="diagram20238180_1*q_h_i*1_1_4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8180_1*q_h_i*1_1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2_1"/>
  <p:tag name="KSO_WM_UNIT_ID" val="diagram20238180_1*q_h_a*1_2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8180_1*q_h_i*1_2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8180_1*q_h_i*1_2_2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3"/>
  <p:tag name="KSO_WM_UNIT_ID" val="diagram20238180_1*q_h_i*1_2_3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8180_1*q_h_i*1_3_2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4"/>
  <p:tag name="KSO_WM_UNIT_ID" val="diagram20238180_1*q_h_i*1_2_4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8180_1*q_h_i*1_1_2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3_1"/>
  <p:tag name="KSO_WM_UNIT_ID" val="diagram20238180_1*q_h_a*1_3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3"/>
  <p:tag name="KSO_WM_UNIT_ID" val="diagram20238180_1*q_h_i*1_3_3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4"/>
  <p:tag name="KSO_WM_UNIT_ID" val="diagram20238180_1*q_h_i*1_3_4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8180_1*q_h_i*1_3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68*6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8180_1*q_h_x*1_1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68*6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8180_1*q_h_x*1_1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90.3232283464567,&quot;left&quot;:17.226299212598427,&quot;top&quot;:90.0767716535433,&quot;width&quot;:687.940157480315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68*6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8180_1*q_h_x*1_1_1"/>
  <p:tag name="KSO_WM_TEMPLATE_CATEGORY" val="diagram"/>
  <p:tag name="KSO_WM_TEMPLATE_INDEX" val="20238180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8212_4*m_h_i*1_1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8212_4*m_h_i*1_1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8212_4*m_h_i*1_2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38212_4*m_h_i*1_2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8212_4*m_h_i*1_3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diagram20238212_4*m_h_i*1_3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8212_4*m_h_i*1_4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20238212_4*m_h_i*1_4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diagram20238212_4*m_h_i*1_5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4"/>
  <p:tag name="KSO_WM_UNIT_ID" val="diagram20238212_4*m_h_i*1_5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8212_4*m_h_i*1_1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8212_4*m_h_i*1_1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8212_4*m_h_i*1_2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38212_4*m_h_i*1_2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8212_4*m_h_i*1_3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diagram20238212_4*m_h_i*1_3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8212_4*m_h_i*1_4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20238212_4*m_h_i*1_4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diagram20238212_4*m_h_i*1_5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3"/>
  <p:tag name="KSO_WM_DIAGRAM_VIRTUALLY_FRAME" val="{&quot;height&quot;:203.475,&quot;left&quot;:70.85,&quot;top&quot;:131.675,&quot;width&quot;:567.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4"/>
  <p:tag name="KSO_WM_UNIT_ID" val="diagram20238212_4*m_h_i*1_5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1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06_2*l_h_f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5,6,5,6,5,6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06_2*l_h_a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DIAGRAM_USE_COLOR_VALUE" val="{&quot;color_scheme&quot;:1,&quot;color_type&quot;:1,&quot;theme_color_indexes&quot;:[5,6,5,6,5,6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l_h_i*1_2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06_2*l_h_f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DIAGRAM_USE_COLOR_VALUE" val="{&quot;color_scheme&quot;:1,&quot;color_type&quot;:1,&quot;theme_color_indexes&quot;:[5,6,5,6,5,6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06_2*l_h_a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08.2529133858268,&quot;left&quot;:22.19519685039368,&quot;top&quot;:87.39708661417322,&quot;width&quot;:672.00480314960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556D96"/>
      </a:accent1>
      <a:accent2>
        <a:srgbClr val="212121"/>
      </a:accent2>
      <a:accent3>
        <a:srgbClr val="A9B9D3"/>
      </a:accent3>
      <a:accent4>
        <a:srgbClr val="26529E"/>
      </a:accent4>
      <a:accent5>
        <a:srgbClr val="62779B"/>
      </a:accent5>
      <a:accent6>
        <a:srgbClr val="363F4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785</Words>
  <Application>Microsoft Office PowerPoint</Application>
  <PresentationFormat>On-screen Show (16:9)</PresentationFormat>
  <Paragraphs>216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Catamaran Light</vt:lpstr>
      <vt:lpstr>Courier New</vt:lpstr>
      <vt:lpstr>Fira Sans Extra Condensed Medium</vt:lpstr>
      <vt:lpstr>Livvic</vt:lpstr>
      <vt:lpstr>Roboto</vt:lpstr>
      <vt:lpstr>Times New Roman</vt:lpstr>
      <vt:lpstr>Wingdings</vt:lpstr>
      <vt:lpstr>Engineering Project Proposal by Slidesgo</vt:lpstr>
      <vt:lpstr>Strategy  Pattern </vt:lpstr>
      <vt:lpstr>PowerPoint Presentation</vt:lpstr>
      <vt:lpstr>01       Introduce the pattern &amp; Intent</vt:lpstr>
      <vt:lpstr>What is Design Pattern?</vt:lpstr>
      <vt:lpstr>Why Should You Learn Design Patterns?</vt:lpstr>
      <vt:lpstr>What Does a Design Pattern Consist Of? </vt:lpstr>
      <vt:lpstr>Classification of Design Patterns</vt:lpstr>
      <vt:lpstr>Design Patterns in different programming languages</vt:lpstr>
      <vt:lpstr>What is Strategy Design Pattern?</vt:lpstr>
      <vt:lpstr>Problem Statement</vt:lpstr>
      <vt:lpstr>Issues Faced</vt:lpstr>
      <vt:lpstr>Solution</vt:lpstr>
      <vt:lpstr>Benefits</vt:lpstr>
      <vt:lpstr>Real Life AnalogY</vt:lpstr>
      <vt:lpstr>Structue - 4  Components</vt:lpstr>
      <vt:lpstr>PowerPoint Presentation</vt:lpstr>
      <vt:lpstr>PowerPoint Presentation</vt:lpstr>
      <vt:lpstr>Advantages</vt:lpstr>
      <vt:lpstr>Disadvantages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 Pattern &amp; Decorator</dc:title>
  <dc:creator>Mahbubur Rahman Antor</dc:creator>
  <cp:lastModifiedBy>Mahbubur Rahman Antor</cp:lastModifiedBy>
  <cp:revision>13</cp:revision>
  <dcterms:created xsi:type="dcterms:W3CDTF">2026-06-12T22:34:00Z</dcterms:created>
  <dcterms:modified xsi:type="dcterms:W3CDTF">2026-06-14T15:52:27Z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CA5353B2B72D48B98E431078C773F470_13</vt:lpwstr>
  </property>
  <property fmtid="{D5CDD505-2E9C-101B-9397-08002B2CF9AE}" pid="3" name="KSOProductBuildVer">
    <vt:lpwstr>1033-12.1.0.26880</vt:lpwstr>
  </property>
</Properties>
</file>